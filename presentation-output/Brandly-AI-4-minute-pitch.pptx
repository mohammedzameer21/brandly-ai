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e6a6260f764425" /><Relationship Type="http://schemas.openxmlformats.org/officeDocument/2006/relationships/extended-properties" Target="/docProps/app.xml" Id="Rc6ab0fa01f4944ab" /><Relationship Type="http://schemas.openxmlformats.org/officeDocument/2006/relationships/officeDocument" Target="/ppt/presentation.xml" Id="R91ef10bcd182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a72fcb8fac4945"/>
  </p:sldMasterIdLst>
  <p:notesMasterIdLst>
    <p:notesMasterId xmlns:r="http://schemas.openxmlformats.org/officeDocument/2006/relationships" r:id="Rea89979ce94d4b28"/>
  </p:notesMasterIdLst>
  <p:sldIdLst>
    <p:sldId xmlns:r="http://schemas.openxmlformats.org/officeDocument/2006/relationships" id="256" r:id="R02d447812dcc4214"/>
    <p:sldId xmlns:r="http://schemas.openxmlformats.org/officeDocument/2006/relationships" id="257" r:id="R0dc195883b524013"/>
    <p:sldId xmlns:r="http://schemas.openxmlformats.org/officeDocument/2006/relationships" id="258" r:id="R1754516f1a3b41cd"/>
    <p:sldId xmlns:r="http://schemas.openxmlformats.org/officeDocument/2006/relationships" id="259" r:id="R69220ab7977142ca"/>
    <p:sldId xmlns:r="http://schemas.openxmlformats.org/officeDocument/2006/relationships" id="260" r:id="Rc4a7ecc9581b4c83"/>
    <p:sldId xmlns:r="http://schemas.openxmlformats.org/officeDocument/2006/relationships" id="261" r:id="R4cd35c9fb5474ec4"/>
    <p:sldId xmlns:r="http://schemas.openxmlformats.org/officeDocument/2006/relationships" id="262" r:id="Rab6bfb1e603247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67692e65245cb" /><Relationship Type="http://schemas.openxmlformats.org/officeDocument/2006/relationships/slideMaster" Target="/ppt/slideMasters/slideMaster1.xml" Id="R6ca72fcb8fac4945" /><Relationship Type="http://schemas.openxmlformats.org/officeDocument/2006/relationships/notesMaster" Target="/ppt/notesMasters/notesMaster1.xml" Id="Rea89979ce94d4b28" /><Relationship Type="http://schemas.openxmlformats.org/officeDocument/2006/relationships/presProps" Target="/ppt/presProps.xml" Id="R4c9bd519d6d04759" /><Relationship Type="http://schemas.openxmlformats.org/officeDocument/2006/relationships/tableStyles" Target="/ppt/tableStyles.xml" Id="Rbd5bc10ee0c7497b" /><Relationship Type="http://schemas.openxmlformats.org/officeDocument/2006/relationships/slide" Target="/ppt/slides/slide1.xml" Id="R02d447812dcc4214" /><Relationship Type="http://schemas.openxmlformats.org/officeDocument/2006/relationships/slide" Target="/ppt/slides/slide2.xml" Id="R0dc195883b524013" /><Relationship Type="http://schemas.openxmlformats.org/officeDocument/2006/relationships/slide" Target="/ppt/slides/slide3.xml" Id="R1754516f1a3b41cd" /><Relationship Type="http://schemas.openxmlformats.org/officeDocument/2006/relationships/slide" Target="/ppt/slides/slide4.xml" Id="R69220ab7977142ca" /><Relationship Type="http://schemas.openxmlformats.org/officeDocument/2006/relationships/slide" Target="/ppt/slides/slide5.xml" Id="Rc4a7ecc9581b4c83" /><Relationship Type="http://schemas.openxmlformats.org/officeDocument/2006/relationships/slide" Target="/ppt/slides/slide6.xml" Id="R4cd35c9fb5474ec4" /><Relationship Type="http://schemas.openxmlformats.org/officeDocument/2006/relationships/slide" Target="/ppt/slides/slide7.xml" Id="Rab6bfb1e603247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6a3f789c744c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c159e793874f9b" /><Relationship Type="http://schemas.openxmlformats.org/officeDocument/2006/relationships/notesMaster" Target="/ppt/notesMasters/notesMaster1.xml" Id="R60deb596aaa94d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af2ddcf6884e54" /><Relationship Type="http://schemas.openxmlformats.org/officeDocument/2006/relationships/notesMaster" Target="/ppt/notesMasters/notesMaster1.xml" Id="Rf9762467d26140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defa362fae478d" /><Relationship Type="http://schemas.openxmlformats.org/officeDocument/2006/relationships/notesMaster" Target="/ppt/notesMasters/notesMaster1.xml" Id="R26dcbfda622849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ff1e86f7544661" /><Relationship Type="http://schemas.openxmlformats.org/officeDocument/2006/relationships/notesMaster" Target="/ppt/notesMasters/notesMaster1.xml" Id="Rf97d1aeb4ed045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00bc9549d046d6" /><Relationship Type="http://schemas.openxmlformats.org/officeDocument/2006/relationships/notesMaster" Target="/ppt/notesMasters/notesMaster1.xml" Id="Rc0151172cc6c4c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1672eb12094104" /><Relationship Type="http://schemas.openxmlformats.org/officeDocument/2006/relationships/notesMaster" Target="/ppt/notesMasters/notesMaster1.xml" Id="R4990b053f63847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849ee48c9a4b29" /><Relationship Type="http://schemas.openxmlformats.org/officeDocument/2006/relationships/notesMaster" Target="/ppt/notesMasters/notesMaster1.xml" Id="Rb88b2b7dac22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a90c3d0c64d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dc06920cb43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d8903cc6a41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bd59c265942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169f8604d48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0cd21c41540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A3E8E0-98F2-49B8-A05A-EE10F5A297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B6B50A-4868-453A-9570-910C27BC36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9CBA84-1818-4435-8F49-8D2DDEB2F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0F4C81-867B-489E-88A0-70950EB29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E2D629-D7DC-4E89-ADE2-8B2B488CFE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749F6D-C2B0-4DED-B3B5-71C47E47F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0CFA43-20C5-4C1D-BF55-989574360F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7D08B0-F47F-472E-9987-2F109AAE19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F55921-E1C4-4573-917A-8B195B9480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2461DF-CE9A-4CB6-AF61-8A0B6D13B2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25a785e8a848b8" /><Relationship Type="http://schemas.openxmlformats.org/officeDocument/2006/relationships/slideLayout" Target="/ppt/slideLayouts/slideLayout1.xml" Id="R687e80f41b4740e3" /><Relationship Type="http://schemas.openxmlformats.org/officeDocument/2006/relationships/slideLayout" Target="/ppt/slideLayouts/slideLayout2.xml" Id="Rce395ea6764a4bd0" /><Relationship Type="http://schemas.openxmlformats.org/officeDocument/2006/relationships/slideLayout" Target="/ppt/slideLayouts/slideLayout3.xml" Id="Rfb7e263c18de4221" /><Relationship Type="http://schemas.openxmlformats.org/officeDocument/2006/relationships/slideLayout" Target="/ppt/slideLayouts/slideLayout4.xml" Id="R13a585edec074d62" /><Relationship Type="http://schemas.openxmlformats.org/officeDocument/2006/relationships/slideLayout" Target="/ppt/slideLayouts/slideLayout5.xml" Id="Rfd5425af55794c1f" /><Relationship Type="http://schemas.openxmlformats.org/officeDocument/2006/relationships/slideLayout" Target="/ppt/slideLayouts/slideLayout6.xml" Id="R96fe941403c741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7e80f41b4740e3"/>
    <p:sldLayoutId xmlns:r="http://schemas.openxmlformats.org/officeDocument/2006/relationships" id="2147483650" r:id="Rce395ea6764a4bd0"/>
    <p:sldLayoutId xmlns:r="http://schemas.openxmlformats.org/officeDocument/2006/relationships" id="2147483651" r:id="Rfb7e263c18de4221"/>
    <p:sldLayoutId xmlns:r="http://schemas.openxmlformats.org/officeDocument/2006/relationships" id="2147483652" r:id="R13a585edec074d62"/>
    <p:sldLayoutId xmlns:r="http://schemas.openxmlformats.org/officeDocument/2006/relationships" id="2147483653" r:id="Rfd5425af55794c1f"/>
    <p:sldLayoutId xmlns:r="http://schemas.openxmlformats.org/officeDocument/2006/relationships" id="2147483654" r:id="R96fe941403c741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47d0a87894c09" /><Relationship Type="http://schemas.openxmlformats.org/officeDocument/2006/relationships/notesSlide" Target="/ppt/notesSlides/notesSlide1.xml" Id="R0a5dd63d13d64a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8268784aa4b62" /><Relationship Type="http://schemas.openxmlformats.org/officeDocument/2006/relationships/notesSlide" Target="/ppt/notesSlides/notesSlide2.xml" Id="R80eda614405f49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90d3aef9845f1" /><Relationship Type="http://schemas.openxmlformats.org/officeDocument/2006/relationships/notesSlide" Target="/ppt/notesSlides/notesSlide3.xml" Id="Rd3613d8c6e8c44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2ed3ee28242d5" /><Relationship Type="http://schemas.openxmlformats.org/officeDocument/2006/relationships/notesSlide" Target="/ppt/notesSlides/notesSlide4.xml" Id="R55c5e0f9e34640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52e9e160e4089" /><Relationship Type="http://schemas.openxmlformats.org/officeDocument/2006/relationships/notesSlide" Target="/ppt/notesSlides/notesSlide5.xml" Id="R2ce16381426442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8a2a75a97417b" /><Relationship Type="http://schemas.openxmlformats.org/officeDocument/2006/relationships/notesSlide" Target="/ppt/notesSlides/notesSlide6.xml" Id="R7e517fc62cb347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8a6e4a52a4c67" /><Relationship Type="http://schemas.openxmlformats.org/officeDocument/2006/relationships/notesSlide" Target="/ppt/notesSlides/notesSlide7.xml" Id="R9696ef64453b4a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1">
            <a:extLst xmlns:a="http://schemas.openxmlformats.org/drawingml/2006/main">
              <a:ext uri="{FF2B5EF4-FFF2-40B4-BE49-F238E27FC236}">
                <a16:creationId xmlns:a16="http://schemas.microsoft.com/office/drawing/2014/main" id="{19A806F8-F911-404A-B594-E35FC84F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BRANDLY AI</a:t>
            </a:r>
          </a:p>
        </p:txBody>
      </p:sp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A5E7197E-D512-4B28-B1FF-497018E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D7166"/>
                </a:solidFill>
              </a:defRPr>
            </a:pPr>
            <a:r>
              <a:rPr sz="900" b="1">
                <a:solidFill>
                  <a:srgbClr val="5D7166"/>
                </a:solidFill>
              </a:rPr>
              <a:t>THE OPPORTUNITY</a:t>
            </a:r>
          </a:p>
        </p:txBody>
      </p:sp>
      <p:sp>
        <p:nvSpPr>
          <p:cNvPr id="3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9AC72BB1-47FB-40C7-9302-85D1ECE9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72938F8E-B335-442E-8941-152B8711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B0D1FEC1-68C8-4535-9326-B52470EA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7166"/>
                </a:solidFill>
              </a:defRPr>
            </a:pPr>
            <a:r>
              <a:rPr sz="825" b="1">
                <a:solidFill>
                  <a:srgbClr val="5D7166"/>
                </a:solidFill>
              </a:rPr>
              <a:t>01  /  07</a:t>
            </a:r>
          </a:p>
        </p:txBody>
      </p:sp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3BE39BC-3A32-4753-A653-B7B05683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84B"/>
                </a:solidFill>
              </a:defRPr>
            </a:pPr>
            <a:r>
              <a:rPr sz="1125" b="1">
                <a:solidFill>
                  <a:srgbClr val="2F684B"/>
                </a:solidFill>
              </a:rPr>
              <a:t>YOUR BRAND, WITH A PLAN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1F4C2B8-E60B-4C6B-BD13-E32E8BB2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0382E"/>
                </a:solidFill>
              </a:defRPr>
            </a:pPr>
            <a:r>
              <a:rPr sz="3900" b="1">
                <a:solidFill>
                  <a:srgbClr val="20382E"/>
                </a:solidFill>
              </a:rPr>
              <a:t>Build a brand people</a:t>
            </a:r>
          </a:p>
          <a:p xmlns:a="http://schemas.openxmlformats.org/drawingml/2006/main">
            <a:pPr>
              <a:defRPr sz="3900" b="1">
                <a:solidFill>
                  <a:srgbClr val="20382E"/>
                </a:solidFill>
              </a:defRPr>
            </a:pPr>
            <a:r>
              <a:rPr sz="3900" b="1">
                <a:solidFill>
                  <a:srgbClr val="20382E"/>
                </a:solidFill>
              </a:rPr>
              <a:t>can recognize.</a:t>
            </a:r>
          </a:p>
        </p:txBody>
      </p:sp>
      <p:sp>
        <p:nvSpPr>
          <p:cNvPr id="8" name="cover-deck">
            <a:extLst xmlns:a="http://schemas.openxmlformats.org/drawingml/2006/main">
              <a:ext uri="{FF2B5EF4-FFF2-40B4-BE49-F238E27FC236}">
                <a16:creationId xmlns:a16="http://schemas.microsoft.com/office/drawing/2014/main" id="{5E74AE0C-54EC-4E2D-8573-71CDBC72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166"/>
                </a:solidFill>
              </a:defRPr>
            </a:pPr>
            <a:r>
              <a:rPr sz="1725" b="0">
                <a:solidFill>
                  <a:srgbClr val="5D7166"/>
                </a:solidFill>
              </a:rPr>
              <a:t>Brandly AI helps early founders turn what they know into a clear identity, a steady content plan, and a path to the right creators.</a:t>
            </a:r>
          </a:p>
        </p:txBody>
      </p:sp>
      <p:sp>
        <p:nvSpPr>
          <p:cNvPr id="9" name="team-name-box">
            <a:extLst xmlns:a="http://schemas.openxmlformats.org/drawingml/2006/main">
              <a:ext uri="{FF2B5EF4-FFF2-40B4-BE49-F238E27FC236}">
                <a16:creationId xmlns:a16="http://schemas.microsoft.com/office/drawing/2014/main" id="{154BA50E-5634-47C0-8BA3-79883681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3524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D8"/>
            </a:solidFill>
            <a:prstDash val="solid"/>
          </a:ln>
        </p:spPr>
      </p:sp>
      <p:sp>
        <p:nvSpPr>
          <p:cNvPr id="10" name="team-name-label">
            <a:extLst xmlns:a="http://schemas.openxmlformats.org/drawingml/2006/main">
              <a:ext uri="{FF2B5EF4-FFF2-40B4-BE49-F238E27FC236}">
                <a16:creationId xmlns:a16="http://schemas.microsoft.com/office/drawing/2014/main" id="{38BE374D-C95A-475A-A809-21614D5D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F684B"/>
                </a:solidFill>
              </a:defRPr>
            </a:pPr>
            <a:r>
              <a:rPr sz="1275" b="1">
                <a:solidFill>
                  <a:srgbClr val="2F684B"/>
                </a:solidFill>
              </a:rPr>
              <a:t>TEAM NAME  •  EDIT THIS TEXT</a:t>
            </a:r>
          </a:p>
        </p:txBody>
      </p:sp>
      <p:sp>
        <p:nvSpPr>
          <p:cNvPr id="11" name="problem-card">
            <a:extLst xmlns:a="http://schemas.openxmlformats.org/drawingml/2006/main">
              <a:ext uri="{FF2B5EF4-FFF2-40B4-BE49-F238E27FC236}">
                <a16:creationId xmlns:a16="http://schemas.microsoft.com/office/drawing/2014/main" id="{8528AB36-2547-4F42-9E92-805169EF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47800"/>
            <a:ext cx="409575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E4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1587CECC-74D0-4693-87AE-AC056BC7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097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THE PROBLEM</a:t>
            </a:r>
          </a:p>
        </p:txBody>
      </p:sp>
      <p:sp>
        <p:nvSpPr>
          <p:cNvPr id="13" name="problem-head">
            <a:extLst xmlns:a="http://schemas.openxmlformats.org/drawingml/2006/main">
              <a:ext uri="{FF2B5EF4-FFF2-40B4-BE49-F238E27FC236}">
                <a16:creationId xmlns:a16="http://schemas.microsoft.com/office/drawing/2014/main" id="{F0F56E03-0DEC-40DE-B585-418BFABD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31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82E"/>
                </a:solidFill>
              </a:defRPr>
            </a:pPr>
            <a:r>
              <a:rPr sz="2325" b="1">
                <a:solidFill>
                  <a:srgbClr val="20382E"/>
                </a:solidFill>
              </a:rPr>
              <a:t>A beginner’s first marketing stack is scattered.</a:t>
            </a:r>
          </a:p>
        </p:txBody>
      </p:sp>
      <p:sp>
        <p:nvSpPr>
          <p:cNvPr id="14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C83DEF93-04E5-4569-A4E2-6E8DAB8F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24250"/>
            <a:ext cx="331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D7166"/>
                </a:solidFill>
              </a:defRPr>
            </a:pPr>
            <a:r>
              <a:rPr sz="1500" b="0">
                <a:solidFill>
                  <a:srgbClr val="5D7166"/>
                </a:solidFill>
              </a:rPr>
              <a:t>Brand identity, content planning, and creator discovery often live in separate places—making it hard to know what to do next.</a:t>
            </a:r>
          </a:p>
        </p:txBody>
      </p:sp>
      <p:sp>
        <p:nvSpPr>
          <p:cNvPr id="15" name="cover-claim">
            <a:extLst xmlns:a="http://schemas.openxmlformats.org/drawingml/2006/main">
              <a:ext uri="{FF2B5EF4-FFF2-40B4-BE49-F238E27FC236}">
                <a16:creationId xmlns:a16="http://schemas.microsoft.com/office/drawing/2014/main" id="{FFE8C64A-BE1F-4F19-A345-FCC5A336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ONE STARTING POINT  ·  A CLEARER NEXT STEP</a:t>
            </a:r>
          </a:p>
        </p:txBody>
      </p:sp>
    </p:spTree>
    <p:extLst>
      <p:ext uri="{BB962C8B-B14F-4D97-AF65-F5344CB8AC3E}">
        <p14:creationId xmlns:p14="http://schemas.microsoft.com/office/powerpoint/2010/main" val="845566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2">
            <a:extLst xmlns:a="http://schemas.openxmlformats.org/drawingml/2006/main">
              <a:ext uri="{FF2B5EF4-FFF2-40B4-BE49-F238E27FC236}">
                <a16:creationId xmlns:a16="http://schemas.microsoft.com/office/drawing/2014/main" id="{B25E4B01-152C-4D8A-896D-5378AAD6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BRANDLY AI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96C052FE-BEDC-4CEB-8FAE-EEB76A30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D7166"/>
                </a:solidFill>
              </a:defRPr>
            </a:pPr>
            <a:r>
              <a:rPr sz="900" b="1">
                <a:solidFill>
                  <a:srgbClr val="5D7166"/>
                </a:solidFill>
              </a:rPr>
              <a:t>THE STORY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E74E33B2-8861-4C0C-9B9F-CE28D84D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D109649C-9F28-4379-AA78-FB4DE3BC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8D52037D-6CA8-4B3F-BAB7-CE4A504F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7166"/>
                </a:solidFill>
              </a:defRPr>
            </a:pPr>
            <a:r>
              <a:rPr sz="825" b="1">
                <a:solidFill>
                  <a:srgbClr val="5D7166"/>
                </a:solidFill>
              </a:rPr>
              <a:t>02  /  07</a:t>
            </a:r>
          </a:p>
        </p:txBody>
      </p:sp>
      <p:sp>
        <p:nvSpPr>
          <p:cNvPr id="6" name="story-title">
            <a:extLst xmlns:a="http://schemas.openxmlformats.org/drawingml/2006/main">
              <a:ext uri="{FF2B5EF4-FFF2-40B4-BE49-F238E27FC236}">
                <a16:creationId xmlns:a16="http://schemas.microsoft.com/office/drawing/2014/main" id="{AEEEEAB7-ACEC-4430-8B4B-38EA10A5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82E"/>
                </a:solidFill>
              </a:defRPr>
            </a:pPr>
            <a:r>
              <a:rPr sz="2850" b="1">
                <a:solidFill>
                  <a:srgbClr val="20382E"/>
                </a:solidFill>
              </a:rPr>
              <a:t>Two founders. Same first hurdle.</a:t>
            </a:r>
          </a:p>
        </p:txBody>
      </p:sp>
      <p:sp>
        <p:nvSpPr>
          <p:cNvPr id="7" name="story-subtitle">
            <a:extLst xmlns:a="http://schemas.openxmlformats.org/drawingml/2006/main">
              <a:ext uri="{FF2B5EF4-FFF2-40B4-BE49-F238E27FC236}">
                <a16:creationId xmlns:a16="http://schemas.microsoft.com/office/drawing/2014/main" id="{309B5913-0547-4A37-A848-7E4ED16E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D7166"/>
                </a:solidFill>
              </a:defRPr>
            </a:pPr>
            <a:r>
              <a:rPr sz="1500" b="0">
                <a:solidFill>
                  <a:srgbClr val="5D7166"/>
                </a:solidFill>
              </a:rPr>
              <a:t>Different starting points, one need: a practical way to show up consistently.</a:t>
            </a:r>
          </a:p>
        </p:txBody>
      </p:sp>
      <p:sp>
        <p:nvSpPr>
          <p:cNvPr id="8" name="person-1-square">
            <a:extLst xmlns:a="http://schemas.openxmlformats.org/drawingml/2006/main">
              <a:ext uri="{FF2B5EF4-FFF2-40B4-BE49-F238E27FC236}">
                <a16:creationId xmlns:a16="http://schemas.microsoft.com/office/drawing/2014/main" id="{1FFDBDF1-1D10-426B-ABA4-407DD041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3714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304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erson-1-name">
            <a:extLst xmlns:a="http://schemas.openxmlformats.org/drawingml/2006/main">
              <a:ext uri="{FF2B5EF4-FFF2-40B4-BE49-F238E27FC236}">
                <a16:creationId xmlns:a16="http://schemas.microsoft.com/office/drawing/2014/main" id="{7E0E3566-32CA-46A5-9984-708B9634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DDF27B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DF27B"/>
                </a:solidFill>
              </a:defRPr>
            </a:pPr>
            <a:r>
              <a:rPr sz="1125" b="1">
                <a:solidFill>
                  <a:srgbClr val="DDF27B"/>
                </a:solidFill>
              </a:rPr>
              <a:t>PERSON 1</a:t>
            </a:r>
          </a:p>
        </p:txBody>
      </p:sp>
      <p:sp>
        <p:nvSpPr>
          <p:cNvPr id="10" name="person-1-story">
            <a:extLst xmlns:a="http://schemas.openxmlformats.org/drawingml/2006/main">
              <a:ext uri="{FF2B5EF4-FFF2-40B4-BE49-F238E27FC236}">
                <a16:creationId xmlns:a16="http://schemas.microsoft.com/office/drawing/2014/main" id="{B21BA3DE-82F4-4A24-A15B-87801820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0"/>
            <a:ext cx="3009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“I know what I’m good at. I don’t know how to turn it into a brand.”</a:t>
            </a:r>
          </a:p>
        </p:txBody>
      </p:sp>
      <p:sp>
        <p:nvSpPr>
          <p:cNvPr id="11" name="person-1-need">
            <a:extLst xmlns:a="http://schemas.openxmlformats.org/drawingml/2006/main">
              <a:ext uri="{FF2B5EF4-FFF2-40B4-BE49-F238E27FC236}">
                <a16:creationId xmlns:a16="http://schemas.microsoft.com/office/drawing/2014/main" id="{399AE904-8AC2-4CBA-9E0F-BD5C9A22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006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9E4F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9E4F5"/>
                </a:solidFill>
              </a:defRPr>
            </a:pPr>
            <a:r>
              <a:rPr sz="1350" b="0">
                <a:solidFill>
                  <a:srgbClr val="D9E4F5"/>
                </a:solidFill>
              </a:rPr>
              <a:t>Needs identity + a clear content direction.</a:t>
            </a:r>
          </a:p>
        </p:txBody>
      </p:sp>
      <p:sp>
        <p:nvSpPr>
          <p:cNvPr id="12" name="person-2-square">
            <a:extLst xmlns:a="http://schemas.openxmlformats.org/drawingml/2006/main">
              <a:ext uri="{FF2B5EF4-FFF2-40B4-BE49-F238E27FC236}">
                <a16:creationId xmlns:a16="http://schemas.microsoft.com/office/drawing/2014/main" id="{E5A9A9FB-EAF7-41B0-B126-88F008A8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3714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1B0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erson-2-name">
            <a:extLst xmlns:a="http://schemas.openxmlformats.org/drawingml/2006/main">
              <a:ext uri="{FF2B5EF4-FFF2-40B4-BE49-F238E27FC236}">
                <a16:creationId xmlns:a16="http://schemas.microsoft.com/office/drawing/2014/main" id="{C9C1CE51-12D2-416B-9CC3-EEAC5D2A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0382E"/>
                </a:solidFill>
              </a:defRPr>
            </a:pPr>
            <a:r>
              <a:rPr sz="1125" b="1">
                <a:solidFill>
                  <a:srgbClr val="20382E"/>
                </a:solidFill>
              </a:rPr>
              <a:t>PERSON 2</a:t>
            </a:r>
          </a:p>
        </p:txBody>
      </p:sp>
      <p:sp>
        <p:nvSpPr>
          <p:cNvPr id="14" name="person-2-story">
            <a:extLst xmlns:a="http://schemas.openxmlformats.org/drawingml/2006/main">
              <a:ext uri="{FF2B5EF4-FFF2-40B4-BE49-F238E27FC236}">
                <a16:creationId xmlns:a16="http://schemas.microsoft.com/office/drawing/2014/main" id="{BD51FFD2-52CC-4973-BD2F-A1025B84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3009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382E"/>
                </a:solidFill>
              </a:defRPr>
            </a:pPr>
            <a:r>
              <a:rPr sz="2175" b="1">
                <a:solidFill>
                  <a:srgbClr val="20382E"/>
                </a:solidFill>
              </a:rPr>
              <a:t>“I can post. I’m unsure who to reach and which creators fit.”</a:t>
            </a:r>
          </a:p>
        </p:txBody>
      </p:sp>
      <p:sp>
        <p:nvSpPr>
          <p:cNvPr id="15" name="person-2-need">
            <a:extLst xmlns:a="http://schemas.openxmlformats.org/drawingml/2006/main">
              <a:ext uri="{FF2B5EF4-FFF2-40B4-BE49-F238E27FC236}">
                <a16:creationId xmlns:a16="http://schemas.microsoft.com/office/drawing/2014/main" id="{353C029F-6D61-494C-A781-E70F4E92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006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63C34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3C34"/>
                </a:solidFill>
              </a:defRPr>
            </a:pPr>
            <a:r>
              <a:rPr sz="1350" b="0">
                <a:solidFill>
                  <a:srgbClr val="563C34"/>
                </a:solidFill>
              </a:rPr>
              <a:t>Needs a focused audience + promotion path.</a:t>
            </a:r>
          </a:p>
        </p:txBody>
      </p:sp>
      <p:sp>
        <p:nvSpPr>
          <p:cNvPr id="16" name="story-takeaway">
            <a:extLst xmlns:a="http://schemas.openxmlformats.org/drawingml/2006/main">
              <a:ext uri="{FF2B5EF4-FFF2-40B4-BE49-F238E27FC236}">
                <a16:creationId xmlns:a16="http://schemas.microsoft.com/office/drawing/2014/main" id="{A07E22CF-417D-4292-8721-09DDCC1C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F684B"/>
                </a:solidFill>
              </a:defRPr>
            </a:pPr>
            <a:r>
              <a:rPr sz="1500" b="1">
                <a:solidFill>
                  <a:srgbClr val="2F684B"/>
                </a:solidFill>
              </a:rPr>
              <a:t>Brandly gives both a next step they can actually use.</a:t>
            </a:r>
          </a:p>
        </p:txBody>
      </p:sp>
    </p:spTree>
    <p:extLst>
      <p:ext uri="{BB962C8B-B14F-4D97-AF65-F5344CB8AC3E}">
        <p14:creationId xmlns:p14="http://schemas.microsoft.com/office/powerpoint/2010/main" val="1154875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3">
            <a:extLst xmlns:a="http://schemas.openxmlformats.org/drawingml/2006/main">
              <a:ext uri="{FF2B5EF4-FFF2-40B4-BE49-F238E27FC236}">
                <a16:creationId xmlns:a16="http://schemas.microsoft.com/office/drawing/2014/main" id="{7EAAF0C2-F4C5-4A93-B2F3-E334F8A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BRANDLY AI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8BB3CF80-9EE8-4469-BA73-85460B9D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D7166"/>
                </a:solidFill>
              </a:defRPr>
            </a:pPr>
            <a:r>
              <a:rPr sz="900" b="1">
                <a:solidFill>
                  <a:srgbClr val="5D7166"/>
                </a:solidFill>
              </a:rPr>
              <a:t>THE SOLUTION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0D5A04EE-B1AF-4389-BFC0-797D9986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6368FAF7-A207-4AE4-ADE3-12FF416E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E8A8FD35-6AB2-469F-BE2F-288AD43A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7166"/>
                </a:solidFill>
              </a:defRPr>
            </a:pPr>
            <a:r>
              <a:rPr sz="825" b="1">
                <a:solidFill>
                  <a:srgbClr val="5D7166"/>
                </a:solidFill>
              </a:rPr>
              <a:t>03  /  07</a:t>
            </a:r>
          </a:p>
        </p:txBody>
      </p:sp>
      <p:sp>
        <p:nvSpPr>
          <p:cNvPr id="6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AB05CEBD-B36A-4AB2-A5EE-0ECC694D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382E"/>
                </a:solidFill>
              </a:defRPr>
            </a:pPr>
            <a:r>
              <a:rPr sz="3000" b="1">
                <a:solidFill>
                  <a:srgbClr val="20382E"/>
                </a:solidFill>
              </a:rPr>
              <a:t>One plan, from identity to promotion.</a:t>
            </a:r>
          </a:p>
        </p:txBody>
      </p:sp>
      <p:sp>
        <p:nvSpPr>
          <p:cNvPr id="7" name="solution-intro">
            <a:extLst xmlns:a="http://schemas.openxmlformats.org/drawingml/2006/main">
              <a:ext uri="{FF2B5EF4-FFF2-40B4-BE49-F238E27FC236}">
                <a16:creationId xmlns:a16="http://schemas.microsoft.com/office/drawing/2014/main" id="{C1971B42-7467-44E6-A5FB-8066D205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D7166"/>
                </a:solidFill>
              </a:defRPr>
            </a:pPr>
            <a:r>
              <a:rPr sz="1575" b="0">
                <a:solidFill>
                  <a:srgbClr val="5D7166"/>
                </a:solidFill>
              </a:rPr>
              <a:t>Brandly starts with the founder—not a blank content calendar.</a:t>
            </a:r>
          </a:p>
        </p:txBody>
      </p:sp>
      <p:sp>
        <p:nvSpPr>
          <p:cNvPr id="8" name="solution-input">
            <a:extLst xmlns:a="http://schemas.openxmlformats.org/drawingml/2006/main">
              <a:ext uri="{FF2B5EF4-FFF2-40B4-BE49-F238E27FC236}">
                <a16:creationId xmlns:a16="http://schemas.microsoft.com/office/drawing/2014/main" id="{426032C2-8ABB-474D-8B45-7D8A58A6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762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D8"/>
            </a:solidFill>
            <a:prstDash val="solid"/>
          </a:ln>
        </p:spPr>
      </p:sp>
      <p:sp>
        <p:nvSpPr>
          <p:cNvPr id="9" name="solution-input-tag">
            <a:extLst xmlns:a="http://schemas.openxmlformats.org/drawingml/2006/main">
              <a:ext uri="{FF2B5EF4-FFF2-40B4-BE49-F238E27FC236}">
                <a16:creationId xmlns:a16="http://schemas.microsoft.com/office/drawing/2014/main" id="{BB29E654-C29C-4D16-BD2E-00ECCD34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01  INPUT</a:t>
            </a:r>
          </a:p>
        </p:txBody>
      </p:sp>
      <p:sp>
        <p:nvSpPr>
          <p:cNvPr id="10" name="solution-input-copy">
            <a:extLst xmlns:a="http://schemas.openxmlformats.org/drawingml/2006/main">
              <a:ext uri="{FF2B5EF4-FFF2-40B4-BE49-F238E27FC236}">
                <a16:creationId xmlns:a16="http://schemas.microsoft.com/office/drawing/2014/main" id="{B2C5E275-3EB4-4FAB-96DD-CE91032E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82E"/>
                </a:solidFill>
              </a:defRPr>
            </a:pPr>
            <a:r>
              <a:rPr sz="1800" b="1">
                <a:solidFill>
                  <a:srgbClr val="20382E"/>
                </a:solidFill>
              </a:rPr>
              <a:t>Goals, strengths, audience, channels, and available time.</a:t>
            </a:r>
          </a:p>
        </p:txBody>
      </p:sp>
      <p:sp>
        <p:nvSpPr>
          <p:cNvPr id="11" name="solution-arrow-1">
            <a:extLst xmlns:a="http://schemas.openxmlformats.org/drawingml/2006/main">
              <a:ext uri="{FF2B5EF4-FFF2-40B4-BE49-F238E27FC236}">
                <a16:creationId xmlns:a16="http://schemas.microsoft.com/office/drawing/2014/main" id="{B6EE577A-2CBA-4061-8DB3-BA327F09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623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F684B"/>
                </a:solidFill>
              </a:defRPr>
            </a:pPr>
            <a:r>
              <a:rPr sz="2400" b="1">
                <a:solidFill>
                  <a:srgbClr val="2F684B"/>
                </a:solidFill>
              </a:rPr>
              <a:t>→</a:t>
            </a:r>
          </a:p>
        </p:txBody>
      </p:sp>
      <p:sp>
        <p:nvSpPr>
          <p:cNvPr id="12" name="solution-engine">
            <a:extLst xmlns:a="http://schemas.openxmlformats.org/drawingml/2006/main">
              <a:ext uri="{FF2B5EF4-FFF2-40B4-BE49-F238E27FC236}">
                <a16:creationId xmlns:a16="http://schemas.microsoft.com/office/drawing/2014/main" id="{F358F6BD-3028-4F46-868D-1E05C2A0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62200"/>
            <a:ext cx="3524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4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lution-engine-tag">
            <a:extLst xmlns:a="http://schemas.openxmlformats.org/drawingml/2006/main">
              <a:ext uri="{FF2B5EF4-FFF2-40B4-BE49-F238E27FC236}">
                <a16:creationId xmlns:a16="http://schemas.microsoft.com/office/drawing/2014/main" id="{5DC03DA6-DD8A-4C94-8630-BE179F5A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02  BRANDLY PLAN</a:t>
            </a:r>
          </a:p>
        </p:txBody>
      </p:sp>
      <p:sp>
        <p:nvSpPr>
          <p:cNvPr id="14" name="solution-engine-copy">
            <a:extLst xmlns:a="http://schemas.openxmlformats.org/drawingml/2006/main">
              <a:ext uri="{FF2B5EF4-FFF2-40B4-BE49-F238E27FC236}">
                <a16:creationId xmlns:a16="http://schemas.microsoft.com/office/drawing/2014/main" id="{97FB30AE-BD85-4EF3-AFC4-04378DB8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95625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382E"/>
                </a:solidFill>
              </a:defRPr>
            </a:pPr>
            <a:r>
              <a:rPr sz="1950" b="1">
                <a:solidFill>
                  <a:srgbClr val="20382E"/>
                </a:solidFill>
              </a:rPr>
              <a:t>Shape a brand identity, content pillars, and a manageable weekly rhythm.</a:t>
            </a:r>
          </a:p>
        </p:txBody>
      </p:sp>
      <p:sp>
        <p:nvSpPr>
          <p:cNvPr id="15" name="solution-engine-note">
            <a:extLst xmlns:a="http://schemas.openxmlformats.org/drawingml/2006/main">
              <a:ext uri="{FF2B5EF4-FFF2-40B4-BE49-F238E27FC236}">
                <a16:creationId xmlns:a16="http://schemas.microsoft.com/office/drawing/2014/main" id="{5DDD0041-1C7F-4018-AA6A-E324BF5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148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D7166"/>
                </a:solidFill>
              </a:defRPr>
            </a:pPr>
            <a:r>
              <a:rPr sz="1125" b="0">
                <a:solidFill>
                  <a:srgbClr val="5D7166"/>
                </a:solidFill>
              </a:rPr>
              <a:t>Matching logic: goals + strengths + audience → a tailored plan.</a:t>
            </a:r>
          </a:p>
        </p:txBody>
      </p:sp>
      <p:sp>
        <p:nvSpPr>
          <p:cNvPr id="16" name="solution-arrow-2">
            <a:extLst xmlns:a="http://schemas.openxmlformats.org/drawingml/2006/main">
              <a:ext uri="{FF2B5EF4-FFF2-40B4-BE49-F238E27FC236}">
                <a16:creationId xmlns:a16="http://schemas.microsoft.com/office/drawing/2014/main" id="{BDFD2CC6-331C-4A7E-97AB-656E7CBD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623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F684B"/>
                </a:solidFill>
              </a:defRPr>
            </a:pPr>
            <a:r>
              <a:rPr sz="2400" b="1">
                <a:solidFill>
                  <a:srgbClr val="2F684B"/>
                </a:solidFill>
              </a:rPr>
              <a:t>→</a:t>
            </a:r>
          </a:p>
        </p:txBody>
      </p:sp>
      <p:sp>
        <p:nvSpPr>
          <p:cNvPr id="17" name="solution-output">
            <a:extLst xmlns:a="http://schemas.openxmlformats.org/drawingml/2006/main">
              <a:ext uri="{FF2B5EF4-FFF2-40B4-BE49-F238E27FC236}">
                <a16:creationId xmlns:a16="http://schemas.microsoft.com/office/drawing/2014/main" id="{8AE48034-9D98-45C4-9DC9-F72685AA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2762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D8"/>
            </a:solidFill>
            <a:prstDash val="solid"/>
          </a:ln>
        </p:spPr>
      </p:sp>
      <p:sp>
        <p:nvSpPr>
          <p:cNvPr id="18" name="solution-output-tag">
            <a:extLst xmlns:a="http://schemas.openxmlformats.org/drawingml/2006/main">
              <a:ext uri="{FF2B5EF4-FFF2-40B4-BE49-F238E27FC236}">
                <a16:creationId xmlns:a16="http://schemas.microsoft.com/office/drawing/2014/main" id="{49F1A68C-57CF-46FE-BC87-2E2147DC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19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03  NEXT STEPS</a:t>
            </a:r>
          </a:p>
        </p:txBody>
      </p:sp>
      <p:sp>
        <p:nvSpPr>
          <p:cNvPr id="19" name="solution-output-copy">
            <a:extLst xmlns:a="http://schemas.openxmlformats.org/drawingml/2006/main">
              <a:ext uri="{FF2B5EF4-FFF2-40B4-BE49-F238E27FC236}">
                <a16:creationId xmlns:a16="http://schemas.microsoft.com/office/drawing/2014/main" id="{2852105E-2B07-48DD-98B8-460E6059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3850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82E"/>
                </a:solidFill>
              </a:defRPr>
            </a:pPr>
            <a:r>
              <a:rPr sz="1800" b="1">
                <a:solidFill>
                  <a:srgbClr val="20382E"/>
                </a:solidFill>
              </a:rPr>
              <a:t>A clearer profile, useful content ideas, and creator discovery.</a:t>
            </a:r>
          </a:p>
        </p:txBody>
      </p:sp>
      <p:sp>
        <p:nvSpPr>
          <p:cNvPr id="20" name="solution-honesty">
            <a:extLst xmlns:a="http://schemas.openxmlformats.org/drawingml/2006/main">
              <a:ext uri="{FF2B5EF4-FFF2-40B4-BE49-F238E27FC236}">
                <a16:creationId xmlns:a16="http://schemas.microsoft.com/office/drawing/2014/main" id="{3D410DA1-F43B-4B0A-B3C3-4F47BA70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lution-honesty-text">
            <a:extLst xmlns:a="http://schemas.openxmlformats.org/drawingml/2006/main">
              <a:ext uri="{FF2B5EF4-FFF2-40B4-BE49-F238E27FC236}">
                <a16:creationId xmlns:a16="http://schemas.microsoft.com/office/drawing/2014/main" id="{65FE258E-4457-4071-A098-A35FC66D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94B3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4B3F"/>
                </a:solidFill>
              </a:defRPr>
            </a:pPr>
            <a:r>
              <a:rPr sz="1200" b="0">
                <a:solidFill>
                  <a:srgbClr val="694B3F"/>
                </a:solidFill>
              </a:rPr>
              <a:t>MVP note: the prototype creates a practical starting plan; it does not claim live social analytics or automated AI integrations.</a:t>
            </a:r>
          </a:p>
        </p:txBody>
      </p:sp>
    </p:spTree>
    <p:extLst>
      <p:ext uri="{BB962C8B-B14F-4D97-AF65-F5344CB8AC3E}">
        <p14:creationId xmlns:p14="http://schemas.microsoft.com/office/powerpoint/2010/main" val="1438524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rand-4">
            <a:extLst xmlns:a="http://schemas.openxmlformats.org/drawingml/2006/main">
              <a:ext uri="{FF2B5EF4-FFF2-40B4-BE49-F238E27FC236}">
                <a16:creationId xmlns:a16="http://schemas.microsoft.com/office/drawing/2014/main" id="{127AA705-440D-4978-9FEA-DB9D92E6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BRANDLY AI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023D75E9-16F4-42CE-9111-97BF2278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D7166"/>
                </a:solidFill>
              </a:defRPr>
            </a:pPr>
            <a:r>
              <a:rPr sz="900" b="1">
                <a:solidFill>
                  <a:srgbClr val="5D7166"/>
                </a:solidFill>
              </a:rPr>
              <a:t>HOW IT WORKS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136C32B5-CC9C-4F74-B778-E2FD4C8A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ADAA9C95-BAB6-41D8-94D7-21F89DEB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1C096FFA-5E0F-40B2-87E2-AE961F0F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7166"/>
                </a:solidFill>
              </a:defRPr>
            </a:pPr>
            <a:r>
              <a:rPr sz="825" b="1">
                <a:solidFill>
                  <a:srgbClr val="5D7166"/>
                </a:solidFill>
              </a:rPr>
              <a:t>04  /  07</a:t>
            </a:r>
          </a:p>
        </p:txBody>
      </p:sp>
      <p:sp>
        <p:nvSpPr>
          <p:cNvPr id="6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D294B81A-5668-4EC7-A63E-2B4CA7CE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0382E"/>
                </a:solidFill>
              </a:defRPr>
            </a:pPr>
            <a:r>
              <a:rPr sz="2700" b="1">
                <a:solidFill>
                  <a:srgbClr val="20382E"/>
                </a:solidFill>
              </a:rPr>
              <a:t>A simple path from “who am I?” to “what next?”</a:t>
            </a:r>
          </a:p>
        </p:txBody>
      </p:sp>
      <p:sp>
        <p:nvSpPr>
          <p:cNvPr id="7" name="workflow-sub">
            <a:extLst xmlns:a="http://schemas.openxmlformats.org/drawingml/2006/main">
              <a:ext uri="{FF2B5EF4-FFF2-40B4-BE49-F238E27FC236}">
                <a16:creationId xmlns:a16="http://schemas.microsoft.com/office/drawing/2014/main" id="{DADC7446-3333-4334-8BD6-E0F0B97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D7166"/>
                </a:solidFill>
              </a:defRPr>
            </a:pPr>
            <a:r>
              <a:rPr sz="1500" b="0">
                <a:solidFill>
                  <a:srgbClr val="5D7166"/>
                </a:solidFill>
              </a:rPr>
              <a:t>Five connected steps keep the beginner’s marketing work in one direction.</a:t>
            </a:r>
          </a:p>
        </p:txBody>
      </p:sp>
      <p:sp>
        <p:nvSpPr>
          <p:cNvPr id="8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14BF6023-D477-43C5-8985-60A74B36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866900" cy="23241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D8"/>
            </a:solidFill>
            <a:prstDash val="solid"/>
          </a:ln>
        </p:spPr>
      </p:sp>
      <p:sp>
        <p:nvSpPr>
          <p:cNvPr id="9" name="workflow-number-bg-1">
            <a:extLst xmlns:a="http://schemas.openxmlformats.org/drawingml/2006/main">
              <a:ext uri="{FF2B5EF4-FFF2-40B4-BE49-F238E27FC236}">
                <a16:creationId xmlns:a16="http://schemas.microsoft.com/office/drawing/2014/main" id="{8F862A64-F90A-4256-9F25-D584B82F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kflow-number-1">
            <a:extLst xmlns:a="http://schemas.openxmlformats.org/drawingml/2006/main">
              <a:ext uri="{FF2B5EF4-FFF2-40B4-BE49-F238E27FC236}">
                <a16:creationId xmlns:a16="http://schemas.microsoft.com/office/drawing/2014/main" id="{246F2F1A-2CAE-4459-818D-BF80F455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workflow-head-1">
            <a:extLst xmlns:a="http://schemas.openxmlformats.org/drawingml/2006/main">
              <a:ext uri="{FF2B5EF4-FFF2-40B4-BE49-F238E27FC236}">
                <a16:creationId xmlns:a16="http://schemas.microsoft.com/office/drawing/2014/main" id="{4108791E-7197-4A7D-911D-AECB707B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382E"/>
                </a:solidFill>
              </a:defRPr>
            </a:pPr>
            <a:r>
              <a:rPr sz="1575" b="1">
                <a:solidFill>
                  <a:srgbClr val="20382E"/>
                </a:solidFill>
              </a:rPr>
              <a:t>Set your goal</a:t>
            </a:r>
          </a:p>
        </p:txBody>
      </p:sp>
      <p:sp>
        <p:nvSpPr>
          <p:cNvPr id="12" name="workflow-desc-1">
            <a:extLst xmlns:a="http://schemas.openxmlformats.org/drawingml/2006/main">
              <a:ext uri="{FF2B5EF4-FFF2-40B4-BE49-F238E27FC236}">
                <a16:creationId xmlns:a16="http://schemas.microsoft.com/office/drawing/2014/main" id="{5CCFE81E-DC3A-4CC2-8D1A-0881BE77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166"/>
                </a:solidFill>
              </a:defRPr>
            </a:pPr>
            <a:r>
              <a:rPr sz="1200" b="0">
                <a:solidFill>
                  <a:srgbClr val="5D7166"/>
                </a:solidFill>
              </a:rPr>
              <a:t>What are you building? Who do you want to reach?</a:t>
            </a:r>
          </a:p>
        </p:txBody>
      </p:sp>
      <p:sp>
        <p:nvSpPr>
          <p:cNvPr id="13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4062F889-F43D-485A-99EE-859ECA38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861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F684B"/>
                </a:solidFill>
              </a:defRPr>
            </a:pPr>
            <a:r>
              <a:rPr sz="2400" b="1">
                <a:solidFill>
                  <a:srgbClr val="2F684B"/>
                </a:solidFill>
              </a:rPr>
              <a:t>→</a:t>
            </a:r>
          </a:p>
        </p:txBody>
      </p:sp>
      <p:sp>
        <p:nvSpPr>
          <p:cNvPr id="14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C5C2C21E-150E-4C4F-9D07-61470F05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90800"/>
            <a:ext cx="1952625" cy="23241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4F0E5"/>
          </a:solidFill>
          <a:ln xmlns:a="http://schemas.openxmlformats.org/drawingml/2006/main" w="11430">
            <a:solidFill>
              <a:srgbClr val="D7E2D8"/>
            </a:solidFill>
            <a:prstDash val="solid"/>
          </a:ln>
        </p:spPr>
      </p:sp>
      <p:sp>
        <p:nvSpPr>
          <p:cNvPr id="15" name="workflow-number-bg-2">
            <a:extLst xmlns:a="http://schemas.openxmlformats.org/drawingml/2006/main">
              <a:ext uri="{FF2B5EF4-FFF2-40B4-BE49-F238E27FC236}">
                <a16:creationId xmlns:a16="http://schemas.microsoft.com/office/drawing/2014/main" id="{D6E38AE5-3908-4F46-8CA0-8F639B7C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orkflow-number-2">
            <a:extLst xmlns:a="http://schemas.openxmlformats.org/drawingml/2006/main">
              <a:ext uri="{FF2B5EF4-FFF2-40B4-BE49-F238E27FC236}">
                <a16:creationId xmlns:a16="http://schemas.microsoft.com/office/drawing/2014/main" id="{B4DCC526-6700-45DB-A8D1-B83A9254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workflow-head-2">
            <a:extLst xmlns:a="http://schemas.openxmlformats.org/drawingml/2006/main">
              <a:ext uri="{FF2B5EF4-FFF2-40B4-BE49-F238E27FC236}">
                <a16:creationId xmlns:a16="http://schemas.microsoft.com/office/drawing/2014/main" id="{E7A86383-01F9-41A9-BCA0-B619C653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3718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382E"/>
                </a:solidFill>
              </a:defRPr>
            </a:pPr>
            <a:r>
              <a:rPr sz="1575" b="1">
                <a:solidFill>
                  <a:srgbClr val="20382E"/>
                </a:solidFill>
              </a:rPr>
              <a:t>Define your brand</a:t>
            </a:r>
          </a:p>
        </p:txBody>
      </p:sp>
      <p:sp>
        <p:nvSpPr>
          <p:cNvPr id="18" name="workflow-desc-2">
            <a:extLst xmlns:a="http://schemas.openxmlformats.org/drawingml/2006/main">
              <a:ext uri="{FF2B5EF4-FFF2-40B4-BE49-F238E27FC236}">
                <a16:creationId xmlns:a16="http://schemas.microsoft.com/office/drawing/2014/main" id="{D201BB48-7BCC-4774-B4E8-EC7ECF33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00500"/>
            <a:ext cx="157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166"/>
                </a:solidFill>
              </a:defRPr>
            </a:pPr>
            <a:r>
              <a:rPr sz="1200" b="0">
                <a:solidFill>
                  <a:srgbClr val="5D7166"/>
                </a:solidFill>
              </a:rPr>
              <a:t>Clarify strengths, voice, audience, and identity.</a:t>
            </a:r>
          </a:p>
        </p:txBody>
      </p:sp>
      <p:sp>
        <p:nvSpPr>
          <p:cNvPr id="19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991E4860-9850-42E4-B33E-74D6A970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861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F684B"/>
                </a:solidFill>
              </a:defRPr>
            </a:pPr>
            <a:r>
              <a:rPr sz="2400" b="1">
                <a:solidFill>
                  <a:srgbClr val="2F684B"/>
                </a:solidFill>
              </a:rPr>
              <a:t>→</a:t>
            </a:r>
          </a:p>
        </p:txBody>
      </p:sp>
      <p:sp>
        <p:nvSpPr>
          <p:cNvPr id="20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ED994913-1048-49DE-9B27-2379BE07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590800"/>
            <a:ext cx="1952625" cy="23241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D8"/>
            </a:solidFill>
            <a:prstDash val="solid"/>
          </a:ln>
        </p:spPr>
      </p:sp>
      <p:sp>
        <p:nvSpPr>
          <p:cNvPr id="21" name="workflow-number-bg-3">
            <a:extLst xmlns:a="http://schemas.openxmlformats.org/drawingml/2006/main">
              <a:ext uri="{FF2B5EF4-FFF2-40B4-BE49-F238E27FC236}">
                <a16:creationId xmlns:a16="http://schemas.microsoft.com/office/drawing/2014/main" id="{D9C153C2-28A7-4044-85CA-3E95D75D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orkflow-number-3">
            <a:extLst xmlns:a="http://schemas.openxmlformats.org/drawingml/2006/main">
              <a:ext uri="{FF2B5EF4-FFF2-40B4-BE49-F238E27FC236}">
                <a16:creationId xmlns:a16="http://schemas.microsoft.com/office/drawing/2014/main" id="{3C56D2B5-C1E5-47F0-BC75-E284BDFA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workflow-head-3">
            <a:extLst xmlns:a="http://schemas.openxmlformats.org/drawingml/2006/main">
              <a:ext uri="{FF2B5EF4-FFF2-40B4-BE49-F238E27FC236}">
                <a16:creationId xmlns:a16="http://schemas.microsoft.com/office/drawing/2014/main" id="{A98B702F-FBDB-4A5A-A117-CCD6AA1E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718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382E"/>
                </a:solidFill>
              </a:defRPr>
            </a:pPr>
            <a:r>
              <a:rPr sz="1575" b="1">
                <a:solidFill>
                  <a:srgbClr val="20382E"/>
                </a:solidFill>
              </a:rPr>
              <a:t>Plan content</a:t>
            </a:r>
          </a:p>
        </p:txBody>
      </p:sp>
      <p:sp>
        <p:nvSpPr>
          <p:cNvPr id="24" name="workflow-desc-3">
            <a:extLst xmlns:a="http://schemas.openxmlformats.org/drawingml/2006/main">
              <a:ext uri="{FF2B5EF4-FFF2-40B4-BE49-F238E27FC236}">
                <a16:creationId xmlns:a16="http://schemas.microsoft.com/office/drawing/2014/main" id="{0537E2E8-16FE-4C64-8CC2-BBF29A8A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000500"/>
            <a:ext cx="157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166"/>
                </a:solidFill>
              </a:defRPr>
            </a:pPr>
            <a:r>
              <a:rPr sz="1200" b="0">
                <a:solidFill>
                  <a:srgbClr val="5D7166"/>
                </a:solidFill>
              </a:rPr>
              <a:t>Choose pillars and a realistic weekly calendar.</a:t>
            </a:r>
          </a:p>
        </p:txBody>
      </p:sp>
      <p:sp>
        <p:nvSpPr>
          <p:cNvPr id="25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E3555EBB-3E8D-458B-89D6-E56143C3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861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F684B"/>
                </a:solidFill>
              </a:defRPr>
            </a:pPr>
            <a:r>
              <a:rPr sz="2400" b="1">
                <a:solidFill>
                  <a:srgbClr val="2F684B"/>
                </a:solidFill>
              </a:rPr>
              <a:t>→</a:t>
            </a:r>
          </a:p>
        </p:txBody>
      </p:sp>
      <p:sp>
        <p:nvSpPr>
          <p:cNvPr id="26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5D5EE94E-F093-46BA-ADBD-89AF1848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590800"/>
            <a:ext cx="1952625" cy="23241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4F0E5"/>
          </a:solidFill>
          <a:ln xmlns:a="http://schemas.openxmlformats.org/drawingml/2006/main" w="11430">
            <a:solidFill>
              <a:srgbClr val="D7E2D8"/>
            </a:solidFill>
            <a:prstDash val="solid"/>
          </a:ln>
        </p:spPr>
      </p:sp>
      <p:sp>
        <p:nvSpPr>
          <p:cNvPr id="27" name="workflow-number-bg-4">
            <a:extLst xmlns:a="http://schemas.openxmlformats.org/drawingml/2006/main">
              <a:ext uri="{FF2B5EF4-FFF2-40B4-BE49-F238E27FC236}">
                <a16:creationId xmlns:a16="http://schemas.microsoft.com/office/drawing/2014/main" id="{D91070DB-3058-4BB3-8512-52B9E41C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0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orkflow-number-4">
            <a:extLst xmlns:a="http://schemas.openxmlformats.org/drawingml/2006/main">
              <a:ext uri="{FF2B5EF4-FFF2-40B4-BE49-F238E27FC236}">
                <a16:creationId xmlns:a16="http://schemas.microsoft.com/office/drawing/2014/main" id="{3654FE19-9529-4CFF-823D-1024B74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0382E"/>
                </a:solidFill>
              </a:defRPr>
            </a:pPr>
            <a:r>
              <a:rPr sz="1275" b="1">
                <a:solidFill>
                  <a:srgbClr val="20382E"/>
                </a:solidFill>
              </a:rPr>
              <a:t>4</a:t>
            </a:r>
          </a:p>
        </p:txBody>
      </p:sp>
      <p:sp>
        <p:nvSpPr>
          <p:cNvPr id="29" name="workflow-head-4">
            <a:extLst xmlns:a="http://schemas.openxmlformats.org/drawingml/2006/main">
              <a:ext uri="{FF2B5EF4-FFF2-40B4-BE49-F238E27FC236}">
                <a16:creationId xmlns:a16="http://schemas.microsoft.com/office/drawing/2014/main" id="{A9A435B3-E230-4EAD-AE4F-28F3254E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3718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382E"/>
                </a:solidFill>
              </a:defRPr>
            </a:pPr>
            <a:r>
              <a:rPr sz="1575" b="1">
                <a:solidFill>
                  <a:srgbClr val="20382E"/>
                </a:solidFill>
              </a:rPr>
              <a:t>Find creators</a:t>
            </a:r>
          </a:p>
        </p:txBody>
      </p:sp>
      <p:sp>
        <p:nvSpPr>
          <p:cNvPr id="30" name="workflow-desc-4">
            <a:extLst xmlns:a="http://schemas.openxmlformats.org/drawingml/2006/main">
              <a:ext uri="{FF2B5EF4-FFF2-40B4-BE49-F238E27FC236}">
                <a16:creationId xmlns:a16="http://schemas.microsoft.com/office/drawing/2014/main" id="{E682A489-2F5A-48A4-869D-12656707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00500"/>
            <a:ext cx="157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166"/>
                </a:solidFill>
              </a:defRPr>
            </a:pPr>
            <a:r>
              <a:rPr sz="1200" b="0">
                <a:solidFill>
                  <a:srgbClr val="5D7166"/>
                </a:solidFill>
              </a:rPr>
              <a:t>Explore creators that fit your niche and audience.</a:t>
            </a:r>
          </a:p>
        </p:txBody>
      </p:sp>
      <p:sp>
        <p:nvSpPr>
          <p:cNvPr id="31" name="workflow-arrow-4">
            <a:extLst xmlns:a="http://schemas.openxmlformats.org/drawingml/2006/main">
              <a:ext uri="{FF2B5EF4-FFF2-40B4-BE49-F238E27FC236}">
                <a16:creationId xmlns:a16="http://schemas.microsoft.com/office/drawing/2014/main" id="{97994264-2440-4607-8DBD-4B4787BE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861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F684B"/>
                </a:solidFill>
              </a:defRPr>
            </a:pPr>
            <a:r>
              <a:rPr sz="2400" b="1">
                <a:solidFill>
                  <a:srgbClr val="2F684B"/>
                </a:solidFill>
              </a:rPr>
              <a:t>→</a:t>
            </a:r>
          </a:p>
        </p:txBody>
      </p:sp>
      <p:sp>
        <p:nvSpPr>
          <p:cNvPr id="32" name="workflow-step-5">
            <a:extLst xmlns:a="http://schemas.openxmlformats.org/drawingml/2006/main">
              <a:ext uri="{FF2B5EF4-FFF2-40B4-BE49-F238E27FC236}">
                <a16:creationId xmlns:a16="http://schemas.microsoft.com/office/drawing/2014/main" id="{52CBE016-B24F-47F1-8086-E4E08F10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90800"/>
            <a:ext cx="1647825" cy="232410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D8"/>
            </a:solidFill>
            <a:prstDash val="solid"/>
          </a:ln>
        </p:spPr>
      </p:sp>
      <p:sp>
        <p:nvSpPr>
          <p:cNvPr id="33" name="workflow-number-bg-5">
            <a:extLst xmlns:a="http://schemas.openxmlformats.org/drawingml/2006/main">
              <a:ext uri="{FF2B5EF4-FFF2-40B4-BE49-F238E27FC236}">
                <a16:creationId xmlns:a16="http://schemas.microsoft.com/office/drawing/2014/main" id="{1F68938F-9AA8-44F6-A346-BB72C231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orkflow-number-5">
            <a:extLst xmlns:a="http://schemas.openxmlformats.org/drawingml/2006/main">
              <a:ext uri="{FF2B5EF4-FFF2-40B4-BE49-F238E27FC236}">
                <a16:creationId xmlns:a16="http://schemas.microsoft.com/office/drawing/2014/main" id="{66B8D6AE-2400-49B1-AE19-98AD241A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workflow-head-5">
            <a:extLst xmlns:a="http://schemas.openxmlformats.org/drawingml/2006/main">
              <a:ext uri="{FF2B5EF4-FFF2-40B4-BE49-F238E27FC236}">
                <a16:creationId xmlns:a16="http://schemas.microsoft.com/office/drawing/2014/main" id="{B3554AE7-9CE2-451F-A42F-79A9C068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71850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0382E"/>
                </a:solidFill>
              </a:defRPr>
            </a:pPr>
            <a:r>
              <a:rPr sz="1575" b="1">
                <a:solidFill>
                  <a:srgbClr val="20382E"/>
                </a:solidFill>
              </a:rPr>
              <a:t>Review &amp; refine</a:t>
            </a:r>
          </a:p>
        </p:txBody>
      </p:sp>
      <p:sp>
        <p:nvSpPr>
          <p:cNvPr id="36" name="workflow-desc-5">
            <a:extLst xmlns:a="http://schemas.openxmlformats.org/drawingml/2006/main">
              <a:ext uri="{FF2B5EF4-FFF2-40B4-BE49-F238E27FC236}">
                <a16:creationId xmlns:a16="http://schemas.microsoft.com/office/drawing/2014/main" id="{168614B1-9D80-4378-813B-AC324D99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000500"/>
            <a:ext cx="1266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166"/>
                </a:solidFill>
              </a:defRPr>
            </a:pPr>
            <a:r>
              <a:rPr sz="1200" b="0">
                <a:solidFill>
                  <a:srgbClr val="5D7166"/>
                </a:solidFill>
              </a:rPr>
              <a:t>Use the plan, learn, and adjust your next steps.</a:t>
            </a:r>
          </a:p>
        </p:txBody>
      </p:sp>
      <p:sp>
        <p:nvSpPr>
          <p:cNvPr id="37" name="workflow-loop-left">
            <a:extLst xmlns:a="http://schemas.openxmlformats.org/drawingml/2006/main">
              <a:ext uri="{FF2B5EF4-FFF2-40B4-BE49-F238E27FC236}">
                <a16:creationId xmlns:a16="http://schemas.microsoft.com/office/drawing/2014/main" id="{CE8F33CF-D2B5-4B5A-A1AC-340EC2D2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91150"/>
            <a:ext cx="902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workflow-loop-label">
            <a:extLst xmlns:a="http://schemas.openxmlformats.org/drawingml/2006/main">
              <a:ext uri="{FF2B5EF4-FFF2-40B4-BE49-F238E27FC236}">
                <a16:creationId xmlns:a16="http://schemas.microsoft.com/office/drawing/2014/main" id="{3C0C98B1-25DB-4D11-985E-E574FD68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62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84B"/>
                </a:solidFill>
              </a:defRPr>
            </a:pPr>
            <a:r>
              <a:rPr sz="1125" b="1">
                <a:solidFill>
                  <a:srgbClr val="2F684B"/>
                </a:solidFill>
              </a:rPr>
              <a:t>LEARN FROM THE PLAN  →  REFINE YOUR GOAL AND CONTENT</a:t>
            </a:r>
          </a:p>
        </p:txBody>
      </p:sp>
    </p:spTree>
    <p:extLst>
      <p:ext uri="{BB962C8B-B14F-4D97-AF65-F5344CB8AC3E}">
        <p14:creationId xmlns:p14="http://schemas.microsoft.com/office/powerpoint/2010/main" val="173714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5">
            <a:extLst xmlns:a="http://schemas.openxmlformats.org/drawingml/2006/main">
              <a:ext uri="{FF2B5EF4-FFF2-40B4-BE49-F238E27FC236}">
                <a16:creationId xmlns:a16="http://schemas.microsoft.com/office/drawing/2014/main" id="{8C7E59A9-F44B-4D24-A34F-E008C22A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BRANDLY AI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68665EAC-C4A7-4066-B6D6-DDB71085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D7166"/>
                </a:solidFill>
              </a:defRPr>
            </a:pPr>
            <a:r>
              <a:rPr sz="900" b="1">
                <a:solidFill>
                  <a:srgbClr val="5D7166"/>
                </a:solidFill>
              </a:rPr>
              <a:t>WHY BRANDLY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7460C4BD-D4C0-42C3-AD13-FD1B2EE1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B1C04583-B35B-46EE-976F-90DD6EC2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3688B414-27F5-4400-9E7A-63A3F519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7166"/>
                </a:solidFill>
              </a:defRPr>
            </a:pPr>
            <a:r>
              <a:rPr sz="825" b="1">
                <a:solidFill>
                  <a:srgbClr val="5D7166"/>
                </a:solidFill>
              </a:rPr>
              <a:t>05  /  07</a:t>
            </a:r>
          </a:p>
        </p:txBody>
      </p:sp>
      <p:sp>
        <p:nvSpPr>
          <p:cNvPr id="6" name="different-title">
            <a:extLst xmlns:a="http://schemas.openxmlformats.org/drawingml/2006/main">
              <a:ext uri="{FF2B5EF4-FFF2-40B4-BE49-F238E27FC236}">
                <a16:creationId xmlns:a16="http://schemas.microsoft.com/office/drawing/2014/main" id="{975EECF2-7961-47C9-BAD5-6D882FEB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715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382E"/>
                </a:solidFill>
              </a:defRPr>
            </a:pPr>
            <a:r>
              <a:rPr sz="2850" b="1">
                <a:solidFill>
                  <a:srgbClr val="20382E"/>
                </a:solidFill>
              </a:rPr>
              <a:t>Less tool-hopping. More connected thinking.</a:t>
            </a:r>
          </a:p>
        </p:txBody>
      </p:sp>
      <p:sp>
        <p:nvSpPr>
          <p:cNvPr id="7" name="different-subtitle">
            <a:extLst xmlns:a="http://schemas.openxmlformats.org/drawingml/2006/main">
              <a:ext uri="{FF2B5EF4-FFF2-40B4-BE49-F238E27FC236}">
                <a16:creationId xmlns:a16="http://schemas.microsoft.com/office/drawing/2014/main" id="{3307F04A-FD15-4A18-B706-63889A72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D7166"/>
                </a:solidFill>
              </a:defRPr>
            </a:pPr>
            <a:r>
              <a:rPr sz="1500" b="0">
                <a:solidFill>
                  <a:srgbClr val="5D7166"/>
                </a:solidFill>
              </a:rPr>
              <a:t>A first-time founder can otherwise piece together separate tools for three jobs:</a:t>
            </a:r>
          </a:p>
        </p:txBody>
      </p:sp>
      <p:sp>
        <p:nvSpPr>
          <p:cNvPr id="8" name="tool-stack">
            <a:extLst xmlns:a="http://schemas.openxmlformats.org/drawingml/2006/main">
              <a:ext uri="{FF2B5EF4-FFF2-40B4-BE49-F238E27FC236}">
                <a16:creationId xmlns:a16="http://schemas.microsoft.com/office/drawing/2014/main" id="{6F368726-3205-490C-8112-9EEE2972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40957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D8"/>
            </a:solidFill>
            <a:prstDash val="solid"/>
          </a:ln>
        </p:spPr>
      </p:sp>
      <p:sp>
        <p:nvSpPr>
          <p:cNvPr id="9" name="tool-stack-label">
            <a:extLst xmlns:a="http://schemas.openxmlformats.org/drawingml/2006/main">
              <a:ext uri="{FF2B5EF4-FFF2-40B4-BE49-F238E27FC236}">
                <a16:creationId xmlns:a16="http://schemas.microsoft.com/office/drawing/2014/main" id="{5D8CC85B-8239-49FC-8837-136B7364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304A7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04A70"/>
                </a:solidFill>
              </a:defRPr>
            </a:pPr>
            <a:r>
              <a:rPr sz="1050" b="1">
                <a:solidFill>
                  <a:srgbClr val="304A70"/>
                </a:solidFill>
              </a:rPr>
              <a:t>THE PATCHWORK ROUTE</a:t>
            </a:r>
          </a:p>
        </p:txBody>
      </p:sp>
      <p:sp>
        <p:nvSpPr>
          <p:cNvPr id="10" name="separate-tool-1">
            <a:extLst xmlns:a="http://schemas.openxmlformats.org/drawingml/2006/main">
              <a:ext uri="{FF2B5EF4-FFF2-40B4-BE49-F238E27FC236}">
                <a16:creationId xmlns:a16="http://schemas.microsoft.com/office/drawing/2014/main" id="{3B23CCA5-8951-4155-94BA-BA6E96BF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EC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parate-tool-number-1">
            <a:extLst xmlns:a="http://schemas.openxmlformats.org/drawingml/2006/main">
              <a:ext uri="{FF2B5EF4-FFF2-40B4-BE49-F238E27FC236}">
                <a16:creationId xmlns:a16="http://schemas.microsoft.com/office/drawing/2014/main" id="{DAF42C5E-3D88-4653-ADE2-0E4C18A8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7166"/>
                </a:solidFill>
              </a:defRPr>
            </a:pPr>
            <a:r>
              <a:rPr sz="1125" b="1">
                <a:solidFill>
                  <a:srgbClr val="5D7166"/>
                </a:solidFill>
              </a:rPr>
              <a:t>01</a:t>
            </a:r>
          </a:p>
        </p:txBody>
      </p:sp>
      <p:sp>
        <p:nvSpPr>
          <p:cNvPr id="12" name="separate-tool-label-1">
            <a:extLst xmlns:a="http://schemas.openxmlformats.org/drawingml/2006/main">
              <a:ext uri="{FF2B5EF4-FFF2-40B4-BE49-F238E27FC236}">
                <a16:creationId xmlns:a16="http://schemas.microsoft.com/office/drawing/2014/main" id="{EDFE60DE-106D-4460-A204-52A01032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105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0382E"/>
                </a:solidFill>
              </a:defRPr>
            </a:pPr>
            <a:r>
              <a:rPr sz="1425" b="1">
                <a:solidFill>
                  <a:srgbClr val="20382E"/>
                </a:solidFill>
              </a:rPr>
              <a:t>Brand identity</a:t>
            </a:r>
          </a:p>
        </p:txBody>
      </p:sp>
      <p:sp>
        <p:nvSpPr>
          <p:cNvPr id="13" name="separate-tool-2">
            <a:extLst xmlns:a="http://schemas.openxmlformats.org/drawingml/2006/main">
              <a:ext uri="{FF2B5EF4-FFF2-40B4-BE49-F238E27FC236}">
                <a16:creationId xmlns:a16="http://schemas.microsoft.com/office/drawing/2014/main" id="{A890FA61-8C59-4AC4-B93D-ECECAC70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parate-tool-number-2">
            <a:extLst xmlns:a="http://schemas.openxmlformats.org/drawingml/2006/main">
              <a:ext uri="{FF2B5EF4-FFF2-40B4-BE49-F238E27FC236}">
                <a16:creationId xmlns:a16="http://schemas.microsoft.com/office/drawing/2014/main" id="{7DF98092-45B3-4053-99BE-A736DF2E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7166"/>
                </a:solidFill>
              </a:defRPr>
            </a:pPr>
            <a:r>
              <a:rPr sz="1125" b="1">
                <a:solidFill>
                  <a:srgbClr val="5D7166"/>
                </a:solidFill>
              </a:rPr>
              <a:t>02</a:t>
            </a:r>
          </a:p>
        </p:txBody>
      </p:sp>
      <p:sp>
        <p:nvSpPr>
          <p:cNvPr id="15" name="separate-tool-label-2">
            <a:extLst xmlns:a="http://schemas.openxmlformats.org/drawingml/2006/main">
              <a:ext uri="{FF2B5EF4-FFF2-40B4-BE49-F238E27FC236}">
                <a16:creationId xmlns:a16="http://schemas.microsoft.com/office/drawing/2014/main" id="{45C3EBEC-47DF-4644-AEE3-7810F554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848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0382E"/>
                </a:solidFill>
              </a:defRPr>
            </a:pPr>
            <a:r>
              <a:rPr sz="1425" b="1">
                <a:solidFill>
                  <a:srgbClr val="20382E"/>
                </a:solidFill>
              </a:rPr>
              <a:t>Content management</a:t>
            </a:r>
          </a:p>
        </p:txBody>
      </p:sp>
      <p:sp>
        <p:nvSpPr>
          <p:cNvPr id="16" name="separate-tool-3">
            <a:extLst xmlns:a="http://schemas.openxmlformats.org/drawingml/2006/main">
              <a:ext uri="{FF2B5EF4-FFF2-40B4-BE49-F238E27FC236}">
                <a16:creationId xmlns:a16="http://schemas.microsoft.com/office/drawing/2014/main" id="{683AF6F8-A444-4996-B75B-EAF39B10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3476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parate-tool-number-3">
            <a:extLst xmlns:a="http://schemas.openxmlformats.org/drawingml/2006/main">
              <a:ext uri="{FF2B5EF4-FFF2-40B4-BE49-F238E27FC236}">
                <a16:creationId xmlns:a16="http://schemas.microsoft.com/office/drawing/2014/main" id="{2A0532C4-C2E1-408B-9874-B15A493F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0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7166"/>
                </a:solidFill>
              </a:defRPr>
            </a:pPr>
            <a:r>
              <a:rPr sz="1125" b="1">
                <a:solidFill>
                  <a:srgbClr val="5D7166"/>
                </a:solidFill>
              </a:rPr>
              <a:t>03</a:t>
            </a:r>
          </a:p>
        </p:txBody>
      </p:sp>
      <p:sp>
        <p:nvSpPr>
          <p:cNvPr id="18" name="separate-tool-label-3">
            <a:extLst xmlns:a="http://schemas.openxmlformats.org/drawingml/2006/main">
              <a:ext uri="{FF2B5EF4-FFF2-40B4-BE49-F238E27FC236}">
                <a16:creationId xmlns:a16="http://schemas.microsoft.com/office/drawing/2014/main" id="{47DBCD79-0740-4C56-B706-223C5FA1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0382E"/>
                </a:solidFill>
              </a:defRPr>
            </a:pPr>
            <a:r>
              <a:rPr sz="1425" b="1">
                <a:solidFill>
                  <a:srgbClr val="20382E"/>
                </a:solidFill>
              </a:rPr>
              <a:t>Influencer hunt</a:t>
            </a:r>
          </a:p>
        </p:txBody>
      </p:sp>
      <p:sp>
        <p:nvSpPr>
          <p:cNvPr id="19" name="patchwork-cost">
            <a:extLst xmlns:a="http://schemas.openxmlformats.org/drawingml/2006/main">
              <a:ext uri="{FF2B5EF4-FFF2-40B4-BE49-F238E27FC236}">
                <a16:creationId xmlns:a16="http://schemas.microsoft.com/office/drawing/2014/main" id="{47B0298E-D546-436B-9E63-EA70F615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166"/>
                </a:solidFill>
              </a:defRPr>
            </a:pPr>
            <a:r>
              <a:rPr sz="1200" b="0">
                <a:solidFill>
                  <a:srgbClr val="5D7166"/>
                </a:solidFill>
              </a:rPr>
              <a:t>Then manually connect the pieces.</a:t>
            </a:r>
          </a:p>
        </p:txBody>
      </p:sp>
      <p:sp>
        <p:nvSpPr>
          <p:cNvPr id="20" name="brandly-route">
            <a:extLst xmlns:a="http://schemas.openxmlformats.org/drawingml/2006/main">
              <a:ext uri="{FF2B5EF4-FFF2-40B4-BE49-F238E27FC236}">
                <a16:creationId xmlns:a16="http://schemas.microsoft.com/office/drawing/2014/main" id="{CFB4E8BA-D396-43B5-AC8E-FA07C091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28850"/>
            <a:ext cx="62674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20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randly-route-label">
            <a:extLst xmlns:a="http://schemas.openxmlformats.org/drawingml/2006/main">
              <a:ext uri="{FF2B5EF4-FFF2-40B4-BE49-F238E27FC236}">
                <a16:creationId xmlns:a16="http://schemas.microsoft.com/office/drawing/2014/main" id="{CAC5BF4E-7768-4C78-B1BA-906AF4BA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95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DDF27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DDF27B"/>
                </a:solidFill>
              </a:defRPr>
            </a:pPr>
            <a:r>
              <a:rPr sz="1050" b="1">
                <a:solidFill>
                  <a:srgbClr val="DDF27B"/>
                </a:solidFill>
              </a:rPr>
              <a:t>THE BRANDLY STARTING POINT</a:t>
            </a:r>
          </a:p>
        </p:txBody>
      </p:sp>
      <p:sp>
        <p:nvSpPr>
          <p:cNvPr id="22" name="brandly-route-head">
            <a:extLst xmlns:a="http://schemas.openxmlformats.org/drawingml/2006/main">
              <a:ext uri="{FF2B5EF4-FFF2-40B4-BE49-F238E27FC236}">
                <a16:creationId xmlns:a16="http://schemas.microsoft.com/office/drawing/2014/main" id="{179A856A-6CC2-4F66-9132-47056B68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337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One beginner-friendly flow.</a:t>
            </a:r>
          </a:p>
        </p:txBody>
      </p:sp>
      <p:sp>
        <p:nvSpPr>
          <p:cNvPr id="23" name="brandly-route-copy">
            <a:extLst xmlns:a="http://schemas.openxmlformats.org/drawingml/2006/main">
              <a:ext uri="{FF2B5EF4-FFF2-40B4-BE49-F238E27FC236}">
                <a16:creationId xmlns:a16="http://schemas.microsoft.com/office/drawing/2014/main" id="{9CF0A2F3-B9CD-4E14-88B7-6BDF1AF1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814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E1EBE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E1EBE3"/>
                </a:solidFill>
              </a:defRPr>
            </a:pPr>
            <a:r>
              <a:rPr sz="1575" b="1">
                <a:solidFill>
                  <a:srgbClr val="E1EBE3"/>
                </a:solidFill>
              </a:rPr>
              <a:t>Brand identity → content pillars → weekly calendar → creator discovery</a:t>
            </a:r>
          </a:p>
        </p:txBody>
      </p:sp>
      <p:sp>
        <p:nvSpPr>
          <p:cNvPr id="24" name="brandly-route-rule">
            <a:extLst xmlns:a="http://schemas.openxmlformats.org/drawingml/2006/main">
              <a:ext uri="{FF2B5EF4-FFF2-40B4-BE49-F238E27FC236}">
                <a16:creationId xmlns:a16="http://schemas.microsoft.com/office/drawing/2014/main" id="{4542AC85-5362-491D-9819-E501C941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577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6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ff-1">
            <a:extLst xmlns:a="http://schemas.openxmlformats.org/drawingml/2006/main">
              <a:ext uri="{FF2B5EF4-FFF2-40B4-BE49-F238E27FC236}">
                <a16:creationId xmlns:a16="http://schemas.microsoft.com/office/drawing/2014/main" id="{791F3B0C-4803-47BB-9247-A36059FB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291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Goal-linked: recommendations start with your goals and audience.</a:t>
            </a:r>
          </a:p>
        </p:txBody>
      </p:sp>
      <p:sp>
        <p:nvSpPr>
          <p:cNvPr id="26" name="diff-2">
            <a:extLst xmlns:a="http://schemas.openxmlformats.org/drawingml/2006/main">
              <a:ext uri="{FF2B5EF4-FFF2-40B4-BE49-F238E27FC236}">
                <a16:creationId xmlns:a16="http://schemas.microsoft.com/office/drawing/2014/main" id="{68231B71-2DD8-4374-92DB-7F969E93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292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Connected: your identity guides what you publish and who you reach.</a:t>
            </a:r>
          </a:p>
        </p:txBody>
      </p:sp>
      <p:sp>
        <p:nvSpPr>
          <p:cNvPr id="27" name="diff-3">
            <a:extLst xmlns:a="http://schemas.openxmlformats.org/drawingml/2006/main">
              <a:ext uri="{FF2B5EF4-FFF2-40B4-BE49-F238E27FC236}">
                <a16:creationId xmlns:a16="http://schemas.microsoft.com/office/drawing/2014/main" id="{B0EDD0E2-59CA-42C4-AA8D-9F68450C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292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Approachable: a clear next step instead of a complex marketing stack.</a:t>
            </a:r>
          </a:p>
        </p:txBody>
      </p:sp>
    </p:spTree>
    <p:extLst>
      <p:ext uri="{BB962C8B-B14F-4D97-AF65-F5344CB8AC3E}">
        <p14:creationId xmlns:p14="http://schemas.microsoft.com/office/powerpoint/2010/main" val="1519222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-6">
            <a:extLst xmlns:a="http://schemas.openxmlformats.org/drawingml/2006/main">
              <a:ext uri="{FF2B5EF4-FFF2-40B4-BE49-F238E27FC236}">
                <a16:creationId xmlns:a16="http://schemas.microsoft.com/office/drawing/2014/main" id="{166BEB00-8C1B-42EF-9B84-3428DCAA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BRANDLY AI</a:t>
            </a:r>
          </a:p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4B5099FA-AF2F-43E6-8A97-5D72FBB4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D7166"/>
                </a:solidFill>
              </a:defRPr>
            </a:pPr>
            <a:r>
              <a:rPr sz="900" b="1">
                <a:solidFill>
                  <a:srgbClr val="5D7166"/>
                </a:solidFill>
              </a:rPr>
              <a:t>THE WIN-WIN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823A8414-9D46-4C95-B1BB-8C76D5CF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9E8CD8D5-B875-4CDC-BAF2-B31FC476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9092B69D-E231-42BE-AA42-02D1B8CC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7166"/>
                </a:solidFill>
              </a:defRPr>
            </a:pPr>
            <a:r>
              <a:rPr sz="825" b="1">
                <a:solidFill>
                  <a:srgbClr val="5D7166"/>
                </a:solidFill>
              </a:rPr>
              <a:t>06  /  07</a:t>
            </a:r>
          </a:p>
        </p:txBody>
      </p:sp>
      <p:sp>
        <p:nvSpPr>
          <p:cNvPr id="6" name="win-title">
            <a:extLst xmlns:a="http://schemas.openxmlformats.org/drawingml/2006/main">
              <a:ext uri="{FF2B5EF4-FFF2-40B4-BE49-F238E27FC236}">
                <a16:creationId xmlns:a16="http://schemas.microsoft.com/office/drawing/2014/main" id="{ED6CA435-B9F1-4822-9C4D-57F553C0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0382E"/>
                </a:solidFill>
              </a:defRPr>
            </a:pPr>
            <a:r>
              <a:rPr sz="2925" b="1">
                <a:solidFill>
                  <a:srgbClr val="20382E"/>
                </a:solidFill>
              </a:rPr>
              <a:t>A growth loop that can reward both sides.</a:t>
            </a:r>
          </a:p>
        </p:txBody>
      </p:sp>
      <p:sp>
        <p:nvSpPr>
          <p:cNvPr id="7" name="win-subtitle">
            <a:extLst xmlns:a="http://schemas.openxmlformats.org/drawingml/2006/main">
              <a:ext uri="{FF2B5EF4-FFF2-40B4-BE49-F238E27FC236}">
                <a16:creationId xmlns:a16="http://schemas.microsoft.com/office/drawing/2014/main" id="{8FBF1FA5-E8BD-49D5-8BF3-F5530C85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D7166"/>
                </a:solidFill>
              </a:defRPr>
            </a:pPr>
            <a:r>
              <a:rPr sz="1500" b="0">
                <a:solidFill>
                  <a:srgbClr val="5D7166"/>
                </a:solidFill>
              </a:rPr>
              <a:t>The model: creator-led discovery helps founders find promotion partners.</a:t>
            </a:r>
          </a:p>
        </p:txBody>
      </p:sp>
      <p:sp>
        <p:nvSpPr>
          <p:cNvPr id="8" name="flywheel-node-1">
            <a:extLst xmlns:a="http://schemas.openxmlformats.org/drawingml/2006/main">
              <a:ext uri="{FF2B5EF4-FFF2-40B4-BE49-F238E27FC236}">
                <a16:creationId xmlns:a16="http://schemas.microsoft.com/office/drawing/2014/main" id="{B659C848-965C-4C92-AD56-5706ABA2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2669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4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ywheel-number-1">
            <a:extLst xmlns:a="http://schemas.openxmlformats.org/drawingml/2006/main">
              <a:ext uri="{FF2B5EF4-FFF2-40B4-BE49-F238E27FC236}">
                <a16:creationId xmlns:a16="http://schemas.microsoft.com/office/drawing/2014/main" id="{26F598F0-6369-42B2-988A-57505647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01</a:t>
            </a:r>
          </a:p>
        </p:txBody>
      </p:sp>
      <p:sp>
        <p:nvSpPr>
          <p:cNvPr id="10" name="flywheel-head-1">
            <a:extLst xmlns:a="http://schemas.openxmlformats.org/drawingml/2006/main">
              <a:ext uri="{FF2B5EF4-FFF2-40B4-BE49-F238E27FC236}">
                <a16:creationId xmlns:a16="http://schemas.microsoft.com/office/drawing/2014/main" id="{61F3DB48-57DC-46EF-B9A4-C883E760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82E"/>
                </a:solidFill>
              </a:defRPr>
            </a:pPr>
            <a:r>
              <a:rPr sz="1800" b="1">
                <a:solidFill>
                  <a:srgbClr val="20382E"/>
                </a:solidFill>
              </a:rPr>
              <a:t>Creators share</a:t>
            </a:r>
          </a:p>
        </p:txBody>
      </p:sp>
      <p:sp>
        <p:nvSpPr>
          <p:cNvPr id="11" name="flywheel-body-1">
            <a:extLst xmlns:a="http://schemas.openxmlformats.org/drawingml/2006/main">
              <a:ext uri="{FF2B5EF4-FFF2-40B4-BE49-F238E27FC236}">
                <a16:creationId xmlns:a16="http://schemas.microsoft.com/office/drawing/2014/main" id="{9F3C8124-2CB6-49A4-A42D-40D3BF75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7166"/>
                </a:solidFill>
              </a:defRPr>
            </a:pPr>
            <a:r>
              <a:rPr sz="1275" b="0">
                <a:solidFill>
                  <a:srgbClr val="5D7166"/>
                </a:solidFill>
              </a:rPr>
              <a:t>Useful content and their work on Brandly.</a:t>
            </a:r>
          </a:p>
        </p:txBody>
      </p:sp>
      <p:sp>
        <p:nvSpPr>
          <p:cNvPr id="12" name="flywheel-arrow-1">
            <a:extLst xmlns:a="http://schemas.openxmlformats.org/drawingml/2006/main">
              <a:ext uri="{FF2B5EF4-FFF2-40B4-BE49-F238E27FC236}">
                <a16:creationId xmlns:a16="http://schemas.microsoft.com/office/drawing/2014/main" id="{E191EBAB-DFFA-49C8-8F23-20228FE0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86125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F684B"/>
                </a:solidFill>
              </a:defRPr>
            </a:pPr>
            <a:r>
              <a:rPr sz="2400" b="1">
                <a:solidFill>
                  <a:srgbClr val="2F684B"/>
                </a:solidFill>
              </a:rPr>
              <a:t>→</a:t>
            </a:r>
          </a:p>
        </p:txBody>
      </p:sp>
      <p:sp>
        <p:nvSpPr>
          <p:cNvPr id="13" name="flywheel-node-2">
            <a:extLst xmlns:a="http://schemas.openxmlformats.org/drawingml/2006/main">
              <a:ext uri="{FF2B5EF4-FFF2-40B4-BE49-F238E27FC236}">
                <a16:creationId xmlns:a16="http://schemas.microsoft.com/office/drawing/2014/main" id="{F26CBBC3-7DD0-4D14-BC33-A1C45E75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22669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D8"/>
            </a:solidFill>
            <a:prstDash val="solid"/>
          </a:ln>
        </p:spPr>
      </p:sp>
      <p:sp>
        <p:nvSpPr>
          <p:cNvPr id="14" name="flywheel-number-2">
            <a:extLst xmlns:a="http://schemas.openxmlformats.org/drawingml/2006/main">
              <a:ext uri="{FF2B5EF4-FFF2-40B4-BE49-F238E27FC236}">
                <a16:creationId xmlns:a16="http://schemas.microsoft.com/office/drawing/2014/main" id="{5284767B-1BF8-4DC5-A4BD-F90D4ED7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02</a:t>
            </a:r>
          </a:p>
        </p:txBody>
      </p:sp>
      <p:sp>
        <p:nvSpPr>
          <p:cNvPr id="15" name="flywheel-head-2">
            <a:extLst xmlns:a="http://schemas.openxmlformats.org/drawingml/2006/main">
              <a:ext uri="{FF2B5EF4-FFF2-40B4-BE49-F238E27FC236}">
                <a16:creationId xmlns:a16="http://schemas.microsoft.com/office/drawing/2014/main" id="{467FA5B8-2C1F-49A7-8620-2B9E140C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82E"/>
                </a:solidFill>
              </a:defRPr>
            </a:pPr>
            <a:r>
              <a:rPr sz="1800" b="1">
                <a:solidFill>
                  <a:srgbClr val="20382E"/>
                </a:solidFill>
              </a:rPr>
              <a:t>Founders discover</a:t>
            </a:r>
          </a:p>
        </p:txBody>
      </p:sp>
      <p:sp>
        <p:nvSpPr>
          <p:cNvPr id="16" name="flywheel-body-2">
            <a:extLst xmlns:a="http://schemas.openxmlformats.org/drawingml/2006/main">
              <a:ext uri="{FF2B5EF4-FFF2-40B4-BE49-F238E27FC236}">
                <a16:creationId xmlns:a16="http://schemas.microsoft.com/office/drawing/2014/main" id="{62BFDF14-C619-4D23-85FF-F67FF8AD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7166"/>
                </a:solidFill>
              </a:defRPr>
            </a:pPr>
            <a:r>
              <a:rPr sz="1275" b="0">
                <a:solidFill>
                  <a:srgbClr val="5D7166"/>
                </a:solidFill>
              </a:rPr>
              <a:t>A place to plan marketing and explore creators.</a:t>
            </a:r>
          </a:p>
        </p:txBody>
      </p:sp>
      <p:sp>
        <p:nvSpPr>
          <p:cNvPr id="17" name="flywheel-arrow-2">
            <a:extLst xmlns:a="http://schemas.openxmlformats.org/drawingml/2006/main">
              <a:ext uri="{FF2B5EF4-FFF2-40B4-BE49-F238E27FC236}">
                <a16:creationId xmlns:a16="http://schemas.microsoft.com/office/drawing/2014/main" id="{503F6161-4C16-46C2-BF23-B9A1FAB0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F684B"/>
                </a:solidFill>
              </a:defRPr>
            </a:pPr>
            <a:r>
              <a:rPr sz="2400" b="1">
                <a:solidFill>
                  <a:srgbClr val="2F684B"/>
                </a:solidFill>
              </a:rPr>
              <a:t>→</a:t>
            </a:r>
          </a:p>
        </p:txBody>
      </p:sp>
      <p:sp>
        <p:nvSpPr>
          <p:cNvPr id="18" name="flywheel-node-3">
            <a:extLst xmlns:a="http://schemas.openxmlformats.org/drawingml/2006/main">
              <a:ext uri="{FF2B5EF4-FFF2-40B4-BE49-F238E27FC236}">
                <a16:creationId xmlns:a16="http://schemas.microsoft.com/office/drawing/2014/main" id="{51A09573-5DDE-4554-9F11-6EA938BB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2669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B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lywheel-number-3">
            <a:extLst xmlns:a="http://schemas.openxmlformats.org/drawingml/2006/main">
              <a:ext uri="{FF2B5EF4-FFF2-40B4-BE49-F238E27FC236}">
                <a16:creationId xmlns:a16="http://schemas.microsoft.com/office/drawing/2014/main" id="{A324EDB9-EDA9-4802-8151-A976099B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051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F684B"/>
                </a:solidFill>
              </a:defRPr>
            </a:pPr>
            <a:r>
              <a:rPr sz="1050" b="1">
                <a:solidFill>
                  <a:srgbClr val="2F684B"/>
                </a:solidFill>
              </a:rPr>
              <a:t>03</a:t>
            </a:r>
          </a:p>
        </p:txBody>
      </p:sp>
      <p:sp>
        <p:nvSpPr>
          <p:cNvPr id="20" name="flywheel-head-3">
            <a:extLst xmlns:a="http://schemas.openxmlformats.org/drawingml/2006/main">
              <a:ext uri="{FF2B5EF4-FFF2-40B4-BE49-F238E27FC236}">
                <a16:creationId xmlns:a16="http://schemas.microsoft.com/office/drawing/2014/main" id="{FB0CDE44-E8C3-4352-AD14-E4D404A1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82E"/>
                </a:solidFill>
              </a:defRPr>
            </a:pPr>
            <a:r>
              <a:rPr sz="1800" b="1">
                <a:solidFill>
                  <a:srgbClr val="20382E"/>
                </a:solidFill>
              </a:rPr>
              <a:t>Brands hire</a:t>
            </a:r>
          </a:p>
        </p:txBody>
      </p:sp>
      <p:sp>
        <p:nvSpPr>
          <p:cNvPr id="21" name="flywheel-body-3">
            <a:extLst xmlns:a="http://schemas.openxmlformats.org/drawingml/2006/main">
              <a:ext uri="{FF2B5EF4-FFF2-40B4-BE49-F238E27FC236}">
                <a16:creationId xmlns:a16="http://schemas.microsoft.com/office/drawing/2014/main" id="{6134A0F6-125F-4054-9C2E-7A792C05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052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7166"/>
                </a:solidFill>
              </a:defRPr>
            </a:pPr>
            <a:r>
              <a:rPr sz="1275" b="0">
                <a:solidFill>
                  <a:srgbClr val="5D7166"/>
                </a:solidFill>
              </a:rPr>
              <a:t>Founders choose creators for relevant promotions.</a:t>
            </a:r>
          </a:p>
        </p:txBody>
      </p:sp>
      <p:sp>
        <p:nvSpPr>
          <p:cNvPr id="22" name="flywheel-arrow-3">
            <a:extLst xmlns:a="http://schemas.openxmlformats.org/drawingml/2006/main">
              <a:ext uri="{FF2B5EF4-FFF2-40B4-BE49-F238E27FC236}">
                <a16:creationId xmlns:a16="http://schemas.microsoft.com/office/drawing/2014/main" id="{7C1FFE29-86DC-4C15-8556-A6155782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86125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84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F684B"/>
                </a:solidFill>
              </a:defRPr>
            </a:pPr>
            <a:r>
              <a:rPr sz="2400" b="1">
                <a:solidFill>
                  <a:srgbClr val="2F684B"/>
                </a:solidFill>
              </a:rPr>
              <a:t>→</a:t>
            </a:r>
          </a:p>
        </p:txBody>
      </p:sp>
      <p:sp>
        <p:nvSpPr>
          <p:cNvPr id="23" name="flywheel-node-4">
            <a:extLst xmlns:a="http://schemas.openxmlformats.org/drawingml/2006/main">
              <a:ext uri="{FF2B5EF4-FFF2-40B4-BE49-F238E27FC236}">
                <a16:creationId xmlns:a16="http://schemas.microsoft.com/office/drawing/2014/main" id="{B36AA7E3-BB11-47EC-AFA0-BEC55D3A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22669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304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ywheel-number-4">
            <a:extLst xmlns:a="http://schemas.openxmlformats.org/drawingml/2006/main">
              <a:ext uri="{FF2B5EF4-FFF2-40B4-BE49-F238E27FC236}">
                <a16:creationId xmlns:a16="http://schemas.microsoft.com/office/drawing/2014/main" id="{4D7DED02-E10F-421A-9D15-7BD24469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051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DDF27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DDF27B"/>
                </a:solidFill>
              </a:defRPr>
            </a:pPr>
            <a:r>
              <a:rPr sz="1050" b="1">
                <a:solidFill>
                  <a:srgbClr val="DDF27B"/>
                </a:solidFill>
              </a:rPr>
              <a:t>04</a:t>
            </a:r>
          </a:p>
        </p:txBody>
      </p:sp>
      <p:sp>
        <p:nvSpPr>
          <p:cNvPr id="25" name="flywheel-head-4">
            <a:extLst xmlns:a="http://schemas.openxmlformats.org/drawingml/2006/main">
              <a:ext uri="{FF2B5EF4-FFF2-40B4-BE49-F238E27FC236}">
                <a16:creationId xmlns:a16="http://schemas.microsoft.com/office/drawing/2014/main" id="{CE945405-3ACE-4867-914C-ACFA33B5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Creators earn</a:t>
            </a:r>
          </a:p>
        </p:txBody>
      </p:sp>
      <p:sp>
        <p:nvSpPr>
          <p:cNvPr id="26" name="flywheel-body-4">
            <a:extLst xmlns:a="http://schemas.openxmlformats.org/drawingml/2006/main">
              <a:ext uri="{FF2B5EF4-FFF2-40B4-BE49-F238E27FC236}">
                <a16:creationId xmlns:a16="http://schemas.microsoft.com/office/drawing/2014/main" id="{09669B19-39EA-49E4-B866-B82C8E05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052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E1EBE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1EBE3"/>
                </a:solidFill>
              </a:defRPr>
            </a:pPr>
            <a:r>
              <a:rPr sz="1275" b="0">
                <a:solidFill>
                  <a:srgbClr val="E1EBE3"/>
                </a:solidFill>
              </a:rPr>
              <a:t>More chances for paid collaborations and growth.</a:t>
            </a:r>
          </a:p>
        </p:txBody>
      </p:sp>
      <p:sp>
        <p:nvSpPr>
          <p:cNvPr id="27" name="flywheel-brandly-benefit">
            <a:extLst xmlns:a="http://schemas.openxmlformats.org/drawingml/2006/main">
              <a:ext uri="{FF2B5EF4-FFF2-40B4-BE49-F238E27FC236}">
                <a16:creationId xmlns:a16="http://schemas.microsoft.com/office/drawing/2014/main" id="{8BC293BB-94AB-4254-8790-6A01CAC3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0725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5EC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ywheel-brandly-label">
            <a:extLst xmlns:a="http://schemas.openxmlformats.org/drawingml/2006/main">
              <a:ext uri="{FF2B5EF4-FFF2-40B4-BE49-F238E27FC236}">
                <a16:creationId xmlns:a16="http://schemas.microsoft.com/office/drawing/2014/main" id="{AE5B2738-D6DC-41DB-A11D-F1533F51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911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304A7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04A70"/>
                </a:solidFill>
              </a:defRPr>
            </a:pPr>
            <a:r>
              <a:rPr sz="1050" b="1">
                <a:solidFill>
                  <a:srgbClr val="304A70"/>
                </a:solidFill>
              </a:rPr>
              <a:t>BRANDLY BENEFIT</a:t>
            </a:r>
          </a:p>
        </p:txBody>
      </p:sp>
      <p:sp>
        <p:nvSpPr>
          <p:cNvPr id="29" name="flywheel-brandly-text">
            <a:extLst xmlns:a="http://schemas.openxmlformats.org/drawingml/2006/main">
              <a:ext uri="{FF2B5EF4-FFF2-40B4-BE49-F238E27FC236}">
                <a16:creationId xmlns:a16="http://schemas.microsoft.com/office/drawing/2014/main" id="{F3353008-2B35-41CC-8A85-358E7FBB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578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0382E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382E"/>
                </a:solidFill>
              </a:defRPr>
            </a:pPr>
            <a:r>
              <a:rPr sz="1350" b="0">
                <a:solidFill>
                  <a:srgbClr val="20382E"/>
                </a:solidFill>
              </a:rPr>
              <a:t>Creator advocacy can bring awareness with less reliance on paid ads—while founders get an easier path to promotion.</a:t>
            </a:r>
          </a:p>
        </p:txBody>
      </p:sp>
      <p:sp>
        <p:nvSpPr>
          <p:cNvPr id="30" name="flywheel-caveat">
            <a:extLst xmlns:a="http://schemas.openxmlformats.org/drawingml/2006/main">
              <a:ext uri="{FF2B5EF4-FFF2-40B4-BE49-F238E27FC236}">
                <a16:creationId xmlns:a16="http://schemas.microsoft.com/office/drawing/2014/main" id="{39F1A580-222E-4D20-8C59-2F283D95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D716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D7166"/>
                </a:solidFill>
              </a:defRPr>
            </a:pPr>
            <a:r>
              <a:rPr sz="1050" b="0">
                <a:solidFill>
                  <a:srgbClr val="5D7166"/>
                </a:solidFill>
              </a:rPr>
              <a:t>A proposed growth strategy—not a live marketplace guarantee.</a:t>
            </a:r>
          </a:p>
        </p:txBody>
      </p:sp>
    </p:spTree>
    <p:extLst>
      <p:ext uri="{BB962C8B-B14F-4D97-AF65-F5344CB8AC3E}">
        <p14:creationId xmlns:p14="http://schemas.microsoft.com/office/powerpoint/2010/main" val="9790591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3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-7">
            <a:extLst xmlns:a="http://schemas.openxmlformats.org/drawingml/2006/main">
              <a:ext uri="{FF2B5EF4-FFF2-40B4-BE49-F238E27FC236}">
                <a16:creationId xmlns:a16="http://schemas.microsoft.com/office/drawing/2014/main" id="{80A2FC4D-79C4-4EA9-A25A-2EE2689F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DDF27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DDF27B"/>
                </a:solidFill>
              </a:defRPr>
            </a:pPr>
            <a:r>
              <a:rPr sz="1050" b="1">
                <a:solidFill>
                  <a:srgbClr val="DDF27B"/>
                </a:solidFill>
              </a:rPr>
              <a:t>BRANDLY AI</a:t>
            </a:r>
          </a:p>
        </p:txBody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26EC9677-81D1-4831-86E0-96694CFB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C7D7C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C7D7CC"/>
                </a:solidFill>
              </a:defRPr>
            </a:pPr>
            <a:r>
              <a:rPr sz="900" b="1">
                <a:solidFill>
                  <a:srgbClr val="C7D7CC"/>
                </a:solidFill>
              </a:rPr>
              <a:t>THANK YOU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96BA12E2-A0F1-41B6-8A6A-FD5AFC68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6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AAA37420-9185-417E-80AB-773B29B1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6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D49C8627-AE32-4D24-878D-E10B6C3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C7D7CC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C7D7CC"/>
                </a:solidFill>
              </a:defRPr>
            </a:pPr>
            <a:r>
              <a:rPr sz="825" b="1">
                <a:solidFill>
                  <a:srgbClr val="C7D7CC"/>
                </a:solidFill>
              </a:rPr>
              <a:t>07  /  07</a:t>
            </a:r>
          </a:p>
        </p:txBody>
      </p:sp>
      <p:sp>
        <p:nvSpPr>
          <p:cNvPr id="6" name="closing-orb">
            <a:extLst xmlns:a="http://schemas.openxmlformats.org/drawingml/2006/main">
              <a:ext uri="{FF2B5EF4-FFF2-40B4-BE49-F238E27FC236}">
                <a16:creationId xmlns:a16="http://schemas.microsoft.com/office/drawing/2014/main" id="{D13ED717-F22C-412C-B931-C8B8EC5C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144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ing-orb-cutout">
            <a:extLst xmlns:a="http://schemas.openxmlformats.org/drawingml/2006/main">
              <a:ext uri="{FF2B5EF4-FFF2-40B4-BE49-F238E27FC236}">
                <a16:creationId xmlns:a16="http://schemas.microsoft.com/office/drawing/2014/main" id="{10347487-3E4B-4248-AE41-F0F7305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16954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16649AEA-3A01-495C-92D0-53B13633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DDF27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DDF27B"/>
                </a:solidFill>
              </a:defRPr>
            </a:pPr>
            <a:r>
              <a:rPr sz="1350" b="1">
                <a:solidFill>
                  <a:srgbClr val="DDF27B"/>
                </a:solidFill>
              </a:rPr>
              <a:t>BRANDLY AI</a:t>
            </a:r>
          </a:p>
        </p:txBody>
      </p:sp>
      <p:sp>
        <p:nvSpPr>
          <p:cNvPr id="9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4C5315E8-9095-47DE-B4DA-3AB49BB9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10" name="closing-ask">
            <a:extLst xmlns:a="http://schemas.openxmlformats.org/drawingml/2006/main">
              <a:ext uri="{FF2B5EF4-FFF2-40B4-BE49-F238E27FC236}">
                <a16:creationId xmlns:a16="http://schemas.microsoft.com/office/drawing/2014/main" id="{15284BBA-6740-41BF-B98C-522E6EB3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D8E8DB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8E8DB"/>
                </a:solidFill>
              </a:defRPr>
            </a:pPr>
            <a:r>
              <a:rPr sz="2250" b="0">
                <a:solidFill>
                  <a:srgbClr val="D8E8DB"/>
                </a:solidFill>
              </a:rPr>
              <a:t>Questions?</a:t>
            </a:r>
          </a:p>
        </p:txBody>
      </p:sp>
      <p:sp>
        <p:nvSpPr>
          <p:cNvPr id="11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7E7AF04D-0D47-4858-BCAB-BF0C7ED0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0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ing-promise">
            <a:extLst xmlns:a="http://schemas.openxmlformats.org/drawingml/2006/main">
              <a:ext uri="{FF2B5EF4-FFF2-40B4-BE49-F238E27FC236}">
                <a16:creationId xmlns:a16="http://schemas.microsoft.com/office/drawing/2014/main" id="{C003CFD2-9676-4ECC-9DEC-7436D12F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 clearer first step for every founder building a brand.</a:t>
            </a:r>
          </a:p>
        </p:txBody>
      </p:sp>
      <p:sp>
        <p:nvSpPr>
          <p:cNvPr id="13" name="closing-tagline">
            <a:extLst xmlns:a="http://schemas.openxmlformats.org/drawingml/2006/main">
              <a:ext uri="{FF2B5EF4-FFF2-40B4-BE49-F238E27FC236}">
                <a16:creationId xmlns:a16="http://schemas.microsoft.com/office/drawing/2014/main" id="{664828FF-4B00-4462-B70A-74AB0B49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DDF27B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DF27B"/>
                </a:solidFill>
              </a:defRPr>
            </a:pPr>
            <a:r>
              <a:rPr sz="1125" b="1">
                <a:solidFill>
                  <a:srgbClr val="DDF27B"/>
                </a:solidFill>
              </a:rPr>
              <a:t>YOUR BRAND, WITH A PLAN.</a:t>
            </a:r>
          </a:p>
        </p:txBody>
      </p:sp>
    </p:spTree>
    <p:extLst>
      <p:ext uri="{BB962C8B-B14F-4D97-AF65-F5344CB8AC3E}">
        <p14:creationId xmlns:p14="http://schemas.microsoft.com/office/powerpoint/2010/main" val="1687144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2026-10-10T22:40:50.4030000Z</dcterms:created>
  <dcterms:modified xsi:type="dcterms:W3CDTF">2026-10-10T22:40:50.4030000Z</dcterms:modified>
</coreProperties>
</file>